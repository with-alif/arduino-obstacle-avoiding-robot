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IBM Plex Mono" panose="020B0509050203000203" pitchFamily="49" charset="0"/>
      <p:regular r:id="rId18"/>
    </p:embeddedFont>
    <p:embeddedFont>
      <p:font typeface="Montserrat Bold" panose="020B0604020202020204" charset="0"/>
      <p:regular r:id="rId19"/>
    </p:embeddedFont>
    <p:embeddedFont>
      <p:font typeface="Source Sans 3" panose="020B0604020202020204" charset="0"/>
      <p:regular r:id="rId20"/>
    </p:embeddedFont>
    <p:embeddedFont>
      <p:font typeface="Source Sans 3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01250" y="0"/>
            <a:ext cx="8286750" cy="9715500"/>
          </a:xfrm>
          <a:custGeom>
            <a:avLst/>
            <a:gdLst/>
            <a:ahLst/>
            <a:cxnLst/>
            <a:rect l="l" t="t" r="r" b="b"/>
            <a:pathLst>
              <a:path w="8286750" h="9715500">
                <a:moveTo>
                  <a:pt x="0" y="0"/>
                </a:moveTo>
                <a:lnTo>
                  <a:pt x="8286750" y="0"/>
                </a:lnTo>
                <a:lnTo>
                  <a:pt x="8286750" y="9715500"/>
                </a:lnTo>
                <a:lnTo>
                  <a:pt x="0" y="9715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5" b="-25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572500" y="0"/>
            <a:ext cx="3810000" cy="9715500"/>
            <a:chOff x="0" y="0"/>
            <a:chExt cx="5080000" cy="12954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80000" cy="12954000"/>
            </a:xfrm>
            <a:custGeom>
              <a:avLst/>
              <a:gdLst/>
              <a:ahLst/>
              <a:cxnLst/>
              <a:rect l="l" t="t" r="r" b="b"/>
              <a:pathLst>
                <a:path w="5080000" h="12954000">
                  <a:moveTo>
                    <a:pt x="0" y="0"/>
                  </a:moveTo>
                  <a:lnTo>
                    <a:pt x="5080000" y="0"/>
                  </a:lnTo>
                  <a:lnTo>
                    <a:pt x="5080000" y="12954000"/>
                  </a:lnTo>
                  <a:lnTo>
                    <a:pt x="0" y="12954000"/>
                  </a:lnTo>
                  <a:close/>
                </a:path>
              </a:pathLst>
            </a:custGeom>
            <a:gradFill rotWithShape="1">
              <a:gsLst>
                <a:gs pos="0">
                  <a:srgbClr val="071A33">
                    <a:alpha val="100000"/>
                  </a:srgbClr>
                </a:gs>
                <a:gs pos="100000">
                  <a:srgbClr val="071A33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080000" cy="1299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57250" y="1504950"/>
            <a:ext cx="10763250" cy="172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15"/>
              </a:lnSpc>
            </a:pPr>
            <a:r>
              <a:rPr lang="en-US" sz="63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Implementation of an</a:t>
            </a:r>
          </a:p>
          <a:p>
            <a:pPr algn="l">
              <a:lnSpc>
                <a:spcPts val="6615"/>
              </a:lnSpc>
            </a:pPr>
            <a:r>
              <a:rPr lang="en-US" sz="63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Obstacle-Avoiding Robot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5350" y="3686175"/>
            <a:ext cx="8286750" cy="366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38BDF8"/>
                </a:solidFill>
                <a:latin typeface="Source Sans 3"/>
                <a:ea typeface="Source Sans 3"/>
                <a:cs typeface="Source Sans 3"/>
                <a:sym typeface="Source Sans 3"/>
              </a:rPr>
              <a:t>Arduino • Ultrasonic Sensor • L298N Motor Driver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5350" y="5772150"/>
            <a:ext cx="7810500" cy="334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CSE2102  |  Microprocessor and Microcontrollers Lab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5350" y="6372225"/>
            <a:ext cx="7620000" cy="62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B8CBE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Department of Computer Science and Engineering</a:t>
            </a:r>
          </a:p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B8CBE0"/>
                </a:solidFill>
                <a:latin typeface="Source Sans 3"/>
                <a:ea typeface="Source Sans 3"/>
                <a:cs typeface="Source Sans 3"/>
                <a:sym typeface="Source Sans 3"/>
              </a:rPr>
              <a:t>Begum Rokeya University, Rangpur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5350" y="7496175"/>
            <a:ext cx="7620000" cy="58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B8CBE0"/>
                </a:solidFill>
                <a:latin typeface="Source Sans 3"/>
                <a:ea typeface="Source Sans 3"/>
                <a:cs typeface="Source Sans 3"/>
                <a:sym typeface="Source Sans 3"/>
              </a:rPr>
              <a:t>2nd Year  |  1st Semester  |  Session 2023–2024</a:t>
            </a:r>
          </a:p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B8CBE0"/>
                </a:solidFill>
                <a:latin typeface="Source Sans 3"/>
                <a:ea typeface="Source Sans 3"/>
                <a:cs typeface="Source Sans 3"/>
                <a:sym typeface="Source Sans 3"/>
              </a:rPr>
              <a:t>12 October 2026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9715500"/>
            <a:ext cx="16764000" cy="0"/>
          </a:xfrm>
          <a:prstGeom prst="line">
            <a:avLst/>
          </a:prstGeom>
          <a:ln w="9525" cap="flat">
            <a:solidFill>
              <a:srgbClr val="31506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62000" y="9810750"/>
            <a:ext cx="6667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CSE2102  |  Microprocessor and Microcontrollers Lab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764000" y="9791700"/>
            <a:ext cx="76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38BDF8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57225"/>
            <a:ext cx="14287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 b="1">
                <a:solidFill>
                  <a:srgbClr val="10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Submitted By / Submitted To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62000" y="1466850"/>
            <a:ext cx="1047750" cy="66675"/>
            <a:chOff x="0" y="0"/>
            <a:chExt cx="1397000" cy="88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7000" cy="88900"/>
            </a:xfrm>
            <a:custGeom>
              <a:avLst/>
              <a:gdLst/>
              <a:ahLst/>
              <a:cxnLst/>
              <a:rect l="l" t="t" r="r" b="b"/>
              <a:pathLst>
                <a:path w="1397000" h="88900">
                  <a:moveTo>
                    <a:pt x="0" y="0"/>
                  </a:moveTo>
                  <a:lnTo>
                    <a:pt x="1397000" y="0"/>
                  </a:lnTo>
                  <a:lnTo>
                    <a:pt x="1397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38BD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97000" cy="12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62000" y="2000250"/>
            <a:ext cx="10668000" cy="6953250"/>
            <a:chOff x="0" y="0"/>
            <a:chExt cx="14224000" cy="92710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4224000" cy="9271000"/>
              <a:chOff x="0" y="0"/>
              <a:chExt cx="14224000" cy="9271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224000" cy="92710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0" h="9271000">
                    <a:moveTo>
                      <a:pt x="0" y="0"/>
                    </a:moveTo>
                    <a:lnTo>
                      <a:pt x="14224000" y="0"/>
                    </a:lnTo>
                    <a:lnTo>
                      <a:pt x="14224000" y="9271000"/>
                    </a:lnTo>
                    <a:lnTo>
                      <a:pt x="0" y="927100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CBD8E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224000" cy="930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508000" y="473075"/>
              <a:ext cx="6350000" cy="393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en-US" sz="2100" b="1">
                  <a:solidFill>
                    <a:srgbClr val="124E8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SUBMITTED BY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8000" y="1314450"/>
              <a:ext cx="12700000" cy="323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500" dirty="0">
                  <a:solidFill>
                    <a:srgbClr val="60758F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NAME                                     ID                 REGISTRATION NO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8000" y="1939925"/>
              <a:ext cx="13081000" cy="1165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 dirty="0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Mithun Chandra Sarker             12305011           000018528</a:t>
              </a:r>
            </a:p>
            <a:p>
              <a:pPr algn="l">
                <a:lnSpc>
                  <a:spcPts val="2328"/>
                </a:lnSpc>
              </a:pPr>
              <a:r>
                <a:rPr lang="en-US" sz="1725" dirty="0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Md Abdullah Al Khalid Alif        12305016           000018533</a:t>
              </a:r>
            </a:p>
            <a:p>
              <a:pPr algn="l">
                <a:lnSpc>
                  <a:spcPts val="2328"/>
                </a:lnSpc>
              </a:pPr>
              <a:r>
                <a:rPr lang="en-US" sz="1725" dirty="0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Md Rakibul Islam                  12305039           000018556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8000" y="5813425"/>
              <a:ext cx="12700000" cy="12020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60758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Year: 2nd Year   •   Semester: 1st Semester   •   Session: 2023–2024</a:t>
              </a:r>
            </a:p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60758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Department of Computer Science and Engineering</a:t>
              </a:r>
            </a:p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60758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Begum Rokeya University, Rangpur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811000" y="2000250"/>
            <a:ext cx="5715000" cy="6953250"/>
            <a:chOff x="0" y="0"/>
            <a:chExt cx="7620000" cy="9271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7620000" cy="9271000"/>
              <a:chOff x="0" y="0"/>
              <a:chExt cx="7620000" cy="9271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620000" cy="9271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0" h="9271000">
                    <a:moveTo>
                      <a:pt x="0" y="0"/>
                    </a:moveTo>
                    <a:lnTo>
                      <a:pt x="7620000" y="0"/>
                    </a:lnTo>
                    <a:lnTo>
                      <a:pt x="7620000" y="9271000"/>
                    </a:lnTo>
                    <a:lnTo>
                      <a:pt x="0" y="9271000"/>
                    </a:lnTo>
                    <a:close/>
                  </a:path>
                </a:pathLst>
              </a:custGeom>
              <a:solidFill>
                <a:srgbClr val="071A3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7620000" cy="930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635000" y="473075"/>
              <a:ext cx="5715000" cy="393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5"/>
                </a:lnSpc>
              </a:pPr>
              <a:r>
                <a:rPr lang="en-US" sz="2100" b="1">
                  <a:solidFill>
                    <a:srgbClr val="38BDF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SUBMITTED TO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000" y="2343150"/>
              <a:ext cx="5842000" cy="596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86"/>
                </a:lnSpc>
              </a:pPr>
              <a:r>
                <a:rPr lang="en-US" sz="3225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Marija Sultana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000" y="3400425"/>
              <a:ext cx="5969000" cy="10915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C7DBE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Assistant Professor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C7DBE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Department of Computer Science and Engineering</a:t>
              </a:r>
            </a:p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C7DBE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Begum Rokeya University, Rangpur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762000" y="9715500"/>
            <a:ext cx="16764000" cy="0"/>
          </a:xfrm>
          <a:prstGeom prst="line">
            <a:avLst/>
          </a:prstGeom>
          <a:ln w="9525" cap="flat">
            <a:solidFill>
              <a:srgbClr val="CBD8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762000" y="9810750"/>
            <a:ext cx="6667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CSE2102  |  Microprocessor and Microcontrollers Lab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764000" y="9791700"/>
            <a:ext cx="76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124E8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57225"/>
            <a:ext cx="14287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 b="1">
                <a:solidFill>
                  <a:srgbClr val="10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 &amp; Motivation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1050" y="1323975"/>
            <a:ext cx="12382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Why autonomy matters in a compact educational platform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2552700"/>
            <a:ext cx="8191500" cy="1373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10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manual control</a:t>
            </a:r>
          </a:p>
          <a:p>
            <a:pPr algn="l">
              <a:lnSpc>
                <a:spcPts val="5355"/>
              </a:lnSpc>
            </a:pPr>
            <a:r>
              <a:rPr lang="en-US" sz="5100" b="1">
                <a:solidFill>
                  <a:srgbClr val="10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independent motion.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5350" y="4638675"/>
            <a:ext cx="7715250" cy="1473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Remote-controlled robots depend on an operator and communication range. This project develops a low-cost 2WD robot that senses its surroundings, chooses a safe path, and moves without supervision.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5350" y="6981825"/>
            <a:ext cx="7524750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800" b="1">
                <a:solidFill>
                  <a:srgbClr val="124E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LEARNING FOCUS</a:t>
            </a:r>
          </a:p>
          <a:p>
            <a:pPr algn="l">
              <a:lnSpc>
                <a:spcPts val="1890"/>
              </a:lnSpc>
            </a:pPr>
            <a:r>
              <a:rPr lang="en-US" sz="1800" b="1">
                <a:solidFill>
                  <a:srgbClr val="124E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Microcontroller interfacing • timing • control logic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287000" y="1809750"/>
            <a:ext cx="7239000" cy="7239000"/>
          </a:xfrm>
          <a:custGeom>
            <a:avLst/>
            <a:gdLst/>
            <a:ahLst/>
            <a:cxnLst/>
            <a:rect l="l" t="t" r="r" b="b"/>
            <a:pathLst>
              <a:path w="7239000" h="7239000">
                <a:moveTo>
                  <a:pt x="0" y="0"/>
                </a:moveTo>
                <a:lnTo>
                  <a:pt x="7239000" y="0"/>
                </a:lnTo>
                <a:lnTo>
                  <a:pt x="7239000" y="7239000"/>
                </a:lnTo>
                <a:lnTo>
                  <a:pt x="0" y="723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762000" y="9715500"/>
            <a:ext cx="16764000" cy="0"/>
          </a:xfrm>
          <a:prstGeom prst="line">
            <a:avLst/>
          </a:prstGeom>
          <a:ln w="9525" cap="flat">
            <a:solidFill>
              <a:srgbClr val="CBD8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62000" y="9810750"/>
            <a:ext cx="6667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CSE2102  |  Microprocessor and Microcontrollers Lab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764000" y="9791700"/>
            <a:ext cx="76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124E8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57225"/>
            <a:ext cx="14287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1050" y="1485900"/>
            <a:ext cx="12382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 dirty="0">
                <a:solidFill>
                  <a:srgbClr val="9FC2DF"/>
                </a:solidFill>
                <a:latin typeface="Source Sans 3"/>
                <a:ea typeface="Source Sans 3"/>
                <a:cs typeface="Source Sans 3"/>
                <a:sym typeface="Source Sans 3"/>
              </a:rPr>
              <a:t>A robot must sense, decide, and act—without supervision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43000" y="2667000"/>
            <a:ext cx="14382750" cy="608648"/>
            <a:chOff x="0" y="0"/>
            <a:chExt cx="19177000" cy="811530"/>
          </a:xfrm>
        </p:grpSpPr>
        <p:sp>
          <p:nvSpPr>
            <p:cNvPr id="8" name="TextBox 8"/>
            <p:cNvSpPr txBox="1"/>
            <p:nvPr/>
          </p:nvSpPr>
          <p:spPr>
            <a:xfrm>
              <a:off x="0" y="-57150"/>
              <a:ext cx="1524000" cy="8686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67"/>
                </a:lnSpc>
              </a:pPr>
              <a:r>
                <a:rPr lang="en-US" sz="4050">
                  <a:solidFill>
                    <a:srgbClr val="38BDF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05000" y="79375"/>
              <a:ext cx="3810000" cy="422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SENSE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96000" y="-28575"/>
              <a:ext cx="13081000" cy="479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B8CBE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 single forward sensor has limited spatial awareness.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43000" y="4619625"/>
            <a:ext cx="14382750" cy="608648"/>
            <a:chOff x="0" y="0"/>
            <a:chExt cx="19177000" cy="81153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57150"/>
              <a:ext cx="1524000" cy="8686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67"/>
                </a:lnSpc>
              </a:pPr>
              <a:r>
                <a:rPr lang="en-US" sz="4050">
                  <a:solidFill>
                    <a:srgbClr val="38BDF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5000" y="79375"/>
              <a:ext cx="3810000" cy="422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DECIDE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96000" y="-28575"/>
              <a:ext cx="13081000" cy="479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B8CBE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The environment must be scanned to compare multiple paths.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43000" y="6572250"/>
            <a:ext cx="14382750" cy="608648"/>
            <a:chOff x="0" y="0"/>
            <a:chExt cx="19177000" cy="81153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57150"/>
              <a:ext cx="1524000" cy="8686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67"/>
                </a:lnSpc>
              </a:pPr>
              <a:r>
                <a:rPr lang="en-US" sz="4050">
                  <a:solidFill>
                    <a:srgbClr val="38BDF8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05000" y="79375"/>
              <a:ext cx="3810000" cy="4222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1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ACT SAFELY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96000" y="-28575"/>
              <a:ext cx="13081000" cy="479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B8CBE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Invalid echoes require a fail-safe response, not blind motion.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762000" y="9715500"/>
            <a:ext cx="16764000" cy="0"/>
          </a:xfrm>
          <a:prstGeom prst="line">
            <a:avLst/>
          </a:prstGeom>
          <a:ln w="9525" cap="flat">
            <a:solidFill>
              <a:srgbClr val="31506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762000" y="9810750"/>
            <a:ext cx="6667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CSE2102  |  Microprocessor and Microcontrollers Lab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764000" y="9791700"/>
            <a:ext cx="76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38BDF8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57225"/>
            <a:ext cx="14287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 b="1">
                <a:solidFill>
                  <a:srgbClr val="10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1050" y="1323975"/>
            <a:ext cx="12382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Five concrete engineering outcomes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62000" y="2286000"/>
            <a:ext cx="5334000" cy="2190750"/>
            <a:chOff x="0" y="0"/>
            <a:chExt cx="7112000" cy="2921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112000" cy="2921000"/>
              <a:chOff x="0" y="0"/>
              <a:chExt cx="7112000" cy="2921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112000" cy="2921000"/>
              </a:xfrm>
              <a:custGeom>
                <a:avLst/>
                <a:gdLst/>
                <a:ahLst/>
                <a:cxnLst/>
                <a:rect l="l" t="t" r="r" b="b"/>
                <a:pathLst>
                  <a:path w="7112000" h="2921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38BDF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7112000" cy="295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81000" y="473075"/>
              <a:ext cx="6350000" cy="349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1">
                  <a:solidFill>
                    <a:srgbClr val="124E8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LOW-COST PLATFORM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1000" y="1241425"/>
              <a:ext cx="6350000" cy="4451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023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Autonomous 2WD chassis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77000" y="2286000"/>
            <a:ext cx="5334000" cy="2190750"/>
            <a:chOff x="0" y="0"/>
            <a:chExt cx="7112000" cy="29210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7112000" cy="2921000"/>
              <a:chOff x="0" y="0"/>
              <a:chExt cx="7112000" cy="2921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7112000" cy="2921000"/>
              </a:xfrm>
              <a:custGeom>
                <a:avLst/>
                <a:gdLst/>
                <a:ahLst/>
                <a:cxnLst/>
                <a:rect l="l" t="t" r="r" b="b"/>
                <a:pathLst>
                  <a:path w="7112000" h="2921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BD8E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7112000" cy="295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81000" y="473075"/>
              <a:ext cx="6350000" cy="349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1">
                  <a:solidFill>
                    <a:srgbClr val="124E8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DISTANCE SENSING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1000" y="1241425"/>
              <a:ext cx="6350000" cy="4451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023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HC-SR04 obstacle detection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192000" y="2286000"/>
            <a:ext cx="5334000" cy="2190750"/>
            <a:chOff x="0" y="0"/>
            <a:chExt cx="7112000" cy="2921000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7112000" cy="2921000"/>
              <a:chOff x="0" y="0"/>
              <a:chExt cx="7112000" cy="2921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112000" cy="2921000"/>
              </a:xfrm>
              <a:custGeom>
                <a:avLst/>
                <a:gdLst/>
                <a:ahLst/>
                <a:cxnLst/>
                <a:rect l="l" t="t" r="r" b="b"/>
                <a:pathLst>
                  <a:path w="7112000" h="2921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BD8E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7112000" cy="295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381000" y="473075"/>
              <a:ext cx="6350000" cy="349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1">
                  <a:solidFill>
                    <a:srgbClr val="124E8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LEFT / RIGHT SCAN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1000" y="1241425"/>
              <a:ext cx="6350000" cy="4451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023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SG90 servo at 150° / 30°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5143500"/>
            <a:ext cx="8286750" cy="2190750"/>
            <a:chOff x="0" y="0"/>
            <a:chExt cx="11049000" cy="292100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1049000" cy="2921000"/>
              <a:chOff x="0" y="0"/>
              <a:chExt cx="11049000" cy="2921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1049000" cy="2921000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2921000">
                    <a:moveTo>
                      <a:pt x="0" y="0"/>
                    </a:moveTo>
                    <a:lnTo>
                      <a:pt x="11049000" y="0"/>
                    </a:lnTo>
                    <a:lnTo>
                      <a:pt x="11049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BD8E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11049000" cy="295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381000" y="473075"/>
              <a:ext cx="6350000" cy="349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1">
                  <a:solidFill>
                    <a:srgbClr val="124E8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PWM MOTOR DRIVE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1000" y="1241425"/>
              <a:ext cx="6350000" cy="4451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023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L298N dual H-bridge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477000" y="5143500"/>
            <a:ext cx="8286750" cy="2190750"/>
            <a:chOff x="0" y="0"/>
            <a:chExt cx="11049000" cy="292100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11049000" cy="2921000"/>
              <a:chOff x="0" y="0"/>
              <a:chExt cx="11049000" cy="29210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1049000" cy="2921000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2921000">
                    <a:moveTo>
                      <a:pt x="0" y="0"/>
                    </a:moveTo>
                    <a:lnTo>
                      <a:pt x="11049000" y="0"/>
                    </a:lnTo>
                    <a:lnTo>
                      <a:pt x="11049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CBD8E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11049000" cy="295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381000" y="473075"/>
              <a:ext cx="6350000" cy="349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68"/>
                </a:lnSpc>
              </a:pPr>
              <a:r>
                <a:rPr lang="en-US" sz="1875" b="1">
                  <a:solidFill>
                    <a:srgbClr val="124E8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TURN MANEUVERS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1000" y="1241425"/>
              <a:ext cx="6350000" cy="4451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10233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90° turns and 180° recovery</a:t>
              </a:r>
            </a:p>
          </p:txBody>
        </p:sp>
      </p:grpSp>
      <p:sp>
        <p:nvSpPr>
          <p:cNvPr id="37" name="AutoShape 37"/>
          <p:cNvSpPr/>
          <p:nvPr/>
        </p:nvSpPr>
        <p:spPr>
          <a:xfrm>
            <a:off x="762000" y="9715500"/>
            <a:ext cx="16764000" cy="0"/>
          </a:xfrm>
          <a:prstGeom prst="line">
            <a:avLst/>
          </a:prstGeom>
          <a:ln w="9525" cap="flat">
            <a:solidFill>
              <a:srgbClr val="CBD8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762000" y="9810750"/>
            <a:ext cx="6667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CSE2102  |  Microprocessor and Microcontrollers Lab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764000" y="9791700"/>
            <a:ext cx="76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124E8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57225"/>
            <a:ext cx="14287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 b="1">
                <a:solidFill>
                  <a:srgbClr val="10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Scope of the 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396365"/>
            <a:ext cx="12382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 dirty="0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Deliberately focused on robust indoor autonomy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62000" y="2000250"/>
            <a:ext cx="7810500" cy="5429250"/>
            <a:chOff x="0" y="0"/>
            <a:chExt cx="10414000" cy="7239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414000" cy="7239000"/>
            </a:xfrm>
            <a:custGeom>
              <a:avLst/>
              <a:gdLst/>
              <a:ahLst/>
              <a:cxnLst/>
              <a:rect l="l" t="t" r="r" b="b"/>
              <a:pathLst>
                <a:path w="10414000" h="7239000">
                  <a:moveTo>
                    <a:pt x="0" y="0"/>
                  </a:moveTo>
                  <a:lnTo>
                    <a:pt x="10414000" y="0"/>
                  </a:lnTo>
                  <a:lnTo>
                    <a:pt x="10414000" y="7239000"/>
                  </a:lnTo>
                  <a:lnTo>
                    <a:pt x="0" y="7239000"/>
                  </a:lnTo>
                  <a:close/>
                </a:path>
              </a:pathLst>
            </a:custGeom>
            <a:solidFill>
              <a:srgbClr val="E7F5F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414000" cy="727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334500" y="2000250"/>
            <a:ext cx="8191500" cy="5429250"/>
            <a:chOff x="0" y="0"/>
            <a:chExt cx="10922000" cy="7239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22000" cy="7239000"/>
            </a:xfrm>
            <a:custGeom>
              <a:avLst/>
              <a:gdLst/>
              <a:ahLst/>
              <a:cxnLst/>
              <a:rect l="l" t="t" r="r" b="b"/>
              <a:pathLst>
                <a:path w="10922000" h="7239000">
                  <a:moveTo>
                    <a:pt x="0" y="0"/>
                  </a:moveTo>
                  <a:lnTo>
                    <a:pt x="10922000" y="0"/>
                  </a:lnTo>
                  <a:lnTo>
                    <a:pt x="10922000" y="7239000"/>
                  </a:lnTo>
                  <a:lnTo>
                    <a:pt x="0" y="7239000"/>
                  </a:lnTo>
                  <a:close/>
                </a:path>
              </a:pathLst>
            </a:custGeom>
            <a:solidFill>
              <a:srgbClr val="F8EAE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922000" cy="727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38250" y="2419350"/>
            <a:ext cx="3810000" cy="343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550" b="1">
                <a:solidFill>
                  <a:srgbClr val="1F9D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INCLUDED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8250" y="3105150"/>
            <a:ext cx="6191250" cy="204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10233D"/>
                </a:solidFill>
                <a:latin typeface="Source Sans 3"/>
                <a:ea typeface="Source Sans 3"/>
                <a:cs typeface="Source Sans 3"/>
                <a:sym typeface="Source Sans 3"/>
              </a:rPr>
              <a:t>Hardware assembly</a:t>
            </a:r>
          </a:p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10233D"/>
                </a:solidFill>
                <a:latin typeface="Source Sans 3"/>
                <a:ea typeface="Source Sans 3"/>
                <a:cs typeface="Source Sans 3"/>
                <a:sym typeface="Source Sans 3"/>
              </a:rPr>
              <a:t>Wiring and firmware</a:t>
            </a:r>
          </a:p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10233D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Control algorithm</a:t>
            </a:r>
          </a:p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10233D"/>
                </a:solidFill>
                <a:latin typeface="Source Sans 3"/>
                <a:ea typeface="Source Sans 3"/>
                <a:cs typeface="Source Sans 3"/>
                <a:sym typeface="Source Sans 3"/>
              </a:rPr>
              <a:t>Fail-safe logic</a:t>
            </a:r>
          </a:p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10233D"/>
                </a:solidFill>
                <a:latin typeface="Source Sans 3"/>
                <a:ea typeface="Source Sans 3"/>
                <a:cs typeface="Source Sans 3"/>
                <a:sym typeface="Source Sans 3"/>
              </a:rPr>
              <a:t>Testing and documentation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96500" y="2419350"/>
            <a:ext cx="4762500" cy="343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550" b="1">
                <a:solidFill>
                  <a:srgbClr val="D95D5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 OF SCOPE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96500" y="3105150"/>
            <a:ext cx="6191250" cy="163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10233D"/>
                </a:solidFill>
                <a:latin typeface="Source Sans 3"/>
                <a:ea typeface="Source Sans 3"/>
                <a:cs typeface="Source Sans 3"/>
                <a:sym typeface="Source Sans 3"/>
              </a:rPr>
              <a:t>SLAM</a:t>
            </a:r>
          </a:p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10233D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Computer vision</a:t>
            </a:r>
          </a:p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10233D"/>
                </a:solidFill>
                <a:latin typeface="Source Sans 3"/>
                <a:ea typeface="Source Sans 3"/>
                <a:cs typeface="Source Sans 3"/>
                <a:sym typeface="Source Sans 3"/>
              </a:rPr>
              <a:t>Advanced path planning</a:t>
            </a:r>
          </a:p>
          <a:p>
            <a:pPr algn="l">
              <a:lnSpc>
                <a:spcPts val="3240"/>
              </a:lnSpc>
            </a:pPr>
            <a:r>
              <a:rPr lang="en-US" sz="2400">
                <a:solidFill>
                  <a:srgbClr val="10233D"/>
                </a:solidFill>
                <a:latin typeface="Source Sans 3"/>
                <a:ea typeface="Source Sans 3"/>
                <a:cs typeface="Source Sans 3"/>
                <a:sym typeface="Source Sans 3"/>
              </a:rPr>
              <a:t>Wireless control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8250" y="8115300"/>
            <a:ext cx="15240000" cy="275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950" b="1">
                <a:solidFill>
                  <a:srgbClr val="124E8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  /  Low-cost autonomous obstacle avoidance in an indoor environment—with maximum educational value.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62000" y="9715500"/>
            <a:ext cx="16764000" cy="0"/>
          </a:xfrm>
          <a:prstGeom prst="line">
            <a:avLst/>
          </a:prstGeom>
          <a:ln w="9525" cap="flat">
            <a:solidFill>
              <a:srgbClr val="CBD8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762000" y="9810750"/>
            <a:ext cx="6667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CSE2102  |  Microprocessor and Microcontrollers Lab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764000" y="9791700"/>
            <a:ext cx="76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124E8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57225"/>
            <a:ext cx="14287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1050" y="1323975"/>
            <a:ext cx="12382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FC2DF"/>
                </a:solidFill>
                <a:latin typeface="Source Sans 3"/>
                <a:ea typeface="Source Sans 3"/>
                <a:cs typeface="Source Sans 3"/>
                <a:sym typeface="Source Sans 3"/>
              </a:rPr>
              <a:t>Sensing → processing → power stage → actuation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3238500"/>
            <a:ext cx="3619500" cy="1809750"/>
            <a:chOff x="0" y="0"/>
            <a:chExt cx="4826000" cy="241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26000" cy="2413000"/>
            </a:xfrm>
            <a:custGeom>
              <a:avLst/>
              <a:gdLst/>
              <a:ahLst/>
              <a:cxnLst/>
              <a:rect l="l" t="t" r="r" b="b"/>
              <a:pathLst>
                <a:path w="4826000" h="2413000">
                  <a:moveTo>
                    <a:pt x="40105" y="0"/>
                  </a:moveTo>
                  <a:lnTo>
                    <a:pt x="4785895" y="0"/>
                  </a:lnTo>
                  <a:cubicBezTo>
                    <a:pt x="4808044" y="0"/>
                    <a:pt x="4826000" y="17956"/>
                    <a:pt x="4826000" y="40105"/>
                  </a:cubicBezTo>
                  <a:lnTo>
                    <a:pt x="4826000" y="2372895"/>
                  </a:lnTo>
                  <a:cubicBezTo>
                    <a:pt x="4826000" y="2395044"/>
                    <a:pt x="4808044" y="2413000"/>
                    <a:pt x="4785895" y="2413000"/>
                  </a:cubicBezTo>
                  <a:lnTo>
                    <a:pt x="40105" y="2413000"/>
                  </a:lnTo>
                  <a:cubicBezTo>
                    <a:pt x="17956" y="2413000"/>
                    <a:pt x="0" y="2395044"/>
                    <a:pt x="0" y="2372895"/>
                  </a:cubicBezTo>
                  <a:lnTo>
                    <a:pt x="0" y="40105"/>
                  </a:lnTo>
                  <a:cubicBezTo>
                    <a:pt x="0" y="17956"/>
                    <a:pt x="17956" y="0"/>
                    <a:pt x="40105" y="0"/>
                  </a:cubicBezTo>
                  <a:close/>
                </a:path>
              </a:pathLst>
            </a:custGeom>
            <a:solidFill>
              <a:srgbClr val="124E8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4826000" cy="240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45"/>
                </a:lnSpc>
              </a:pPr>
              <a:r>
                <a:rPr lang="en-US" sz="195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HC-SR04 + SG90</a:t>
              </a:r>
            </a:p>
            <a:p>
              <a:pPr algn="ctr">
                <a:lnSpc>
                  <a:spcPts val="2145"/>
                </a:lnSpc>
              </a:pPr>
              <a:r>
                <a:rPr lang="en-US" sz="195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SENSING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619750" y="3238500"/>
            <a:ext cx="3429000" cy="1809750"/>
            <a:chOff x="0" y="0"/>
            <a:chExt cx="4572000" cy="2413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72000" cy="2413000"/>
            </a:xfrm>
            <a:custGeom>
              <a:avLst/>
              <a:gdLst/>
              <a:ahLst/>
              <a:cxnLst/>
              <a:rect l="l" t="t" r="r" b="b"/>
              <a:pathLst>
                <a:path w="4572000" h="2413000">
                  <a:moveTo>
                    <a:pt x="42333" y="0"/>
                  </a:moveTo>
                  <a:lnTo>
                    <a:pt x="4529667" y="0"/>
                  </a:lnTo>
                  <a:cubicBezTo>
                    <a:pt x="4540894" y="0"/>
                    <a:pt x="4551662" y="4460"/>
                    <a:pt x="4559601" y="12399"/>
                  </a:cubicBezTo>
                  <a:cubicBezTo>
                    <a:pt x="4567540" y="20338"/>
                    <a:pt x="4572000" y="31106"/>
                    <a:pt x="4572000" y="42333"/>
                  </a:cubicBezTo>
                  <a:lnTo>
                    <a:pt x="4572000" y="2370667"/>
                  </a:lnTo>
                  <a:cubicBezTo>
                    <a:pt x="4572000" y="2381894"/>
                    <a:pt x="4567540" y="2392662"/>
                    <a:pt x="4559601" y="2400601"/>
                  </a:cubicBezTo>
                  <a:cubicBezTo>
                    <a:pt x="4551662" y="2408540"/>
                    <a:pt x="4540894" y="2413000"/>
                    <a:pt x="4529667" y="2413000"/>
                  </a:cubicBezTo>
                  <a:lnTo>
                    <a:pt x="42333" y="2413000"/>
                  </a:lnTo>
                  <a:cubicBezTo>
                    <a:pt x="31106" y="2413000"/>
                    <a:pt x="20338" y="2408540"/>
                    <a:pt x="12399" y="2400601"/>
                  </a:cubicBezTo>
                  <a:cubicBezTo>
                    <a:pt x="4460" y="2392662"/>
                    <a:pt x="0" y="2381894"/>
                    <a:pt x="0" y="2370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176B9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4572000" cy="240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45"/>
                </a:lnSpc>
              </a:pPr>
              <a:r>
                <a:rPr lang="en-US" sz="195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ARDUINO UNO</a:t>
              </a:r>
            </a:p>
            <a:p>
              <a:pPr algn="ctr">
                <a:lnSpc>
                  <a:spcPts val="2145"/>
                </a:lnSpc>
              </a:pPr>
              <a:r>
                <a:rPr lang="en-US" sz="195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PROCESSING CORE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191750" y="3238500"/>
            <a:ext cx="3333750" cy="1809750"/>
            <a:chOff x="0" y="0"/>
            <a:chExt cx="4445000" cy="2413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2413000"/>
            </a:xfrm>
            <a:custGeom>
              <a:avLst/>
              <a:gdLst/>
              <a:ahLst/>
              <a:cxnLst/>
              <a:rect l="l" t="t" r="r" b="b"/>
              <a:pathLst>
                <a:path w="4445000" h="2413000">
                  <a:moveTo>
                    <a:pt x="43543" y="0"/>
                  </a:moveTo>
                  <a:lnTo>
                    <a:pt x="4401457" y="0"/>
                  </a:lnTo>
                  <a:cubicBezTo>
                    <a:pt x="4425505" y="0"/>
                    <a:pt x="4445000" y="19495"/>
                    <a:pt x="4445000" y="43543"/>
                  </a:cubicBezTo>
                  <a:lnTo>
                    <a:pt x="4445000" y="2369457"/>
                  </a:lnTo>
                  <a:cubicBezTo>
                    <a:pt x="4445000" y="2393505"/>
                    <a:pt x="4425505" y="2413000"/>
                    <a:pt x="4401457" y="2413000"/>
                  </a:cubicBezTo>
                  <a:lnTo>
                    <a:pt x="43543" y="2413000"/>
                  </a:lnTo>
                  <a:cubicBezTo>
                    <a:pt x="19495" y="2413000"/>
                    <a:pt x="0" y="2393505"/>
                    <a:pt x="0" y="2369457"/>
                  </a:cubicBezTo>
                  <a:lnTo>
                    <a:pt x="0" y="43543"/>
                  </a:lnTo>
                  <a:cubicBezTo>
                    <a:pt x="0" y="19495"/>
                    <a:pt x="19495" y="0"/>
                    <a:pt x="43543" y="0"/>
                  </a:cubicBezTo>
                  <a:close/>
                </a:path>
              </a:pathLst>
            </a:custGeom>
            <a:solidFill>
              <a:srgbClr val="124E8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4445000" cy="240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45"/>
                </a:lnSpc>
              </a:pPr>
              <a:r>
                <a:rPr lang="en-US" sz="195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L298N</a:t>
              </a:r>
            </a:p>
            <a:p>
              <a:pPr algn="ctr">
                <a:lnSpc>
                  <a:spcPts val="2145"/>
                </a:lnSpc>
              </a:pPr>
              <a:r>
                <a:rPr lang="en-US" sz="195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DUAL H-BRIDGE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68500" y="3238500"/>
            <a:ext cx="2762250" cy="1809750"/>
            <a:chOff x="0" y="0"/>
            <a:chExt cx="3683000" cy="2413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83000" cy="2413000"/>
            </a:xfrm>
            <a:custGeom>
              <a:avLst/>
              <a:gdLst/>
              <a:ahLst/>
              <a:cxnLst/>
              <a:rect l="l" t="t" r="r" b="b"/>
              <a:pathLst>
                <a:path w="3683000" h="2413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2360448"/>
                  </a:lnTo>
                  <a:cubicBezTo>
                    <a:pt x="3683000" y="2374386"/>
                    <a:pt x="3677463" y="2387753"/>
                    <a:pt x="3667608" y="2397608"/>
                  </a:cubicBezTo>
                  <a:cubicBezTo>
                    <a:pt x="3657753" y="2407463"/>
                    <a:pt x="3644386" y="2413000"/>
                    <a:pt x="3630448" y="2413000"/>
                  </a:cubicBezTo>
                  <a:lnTo>
                    <a:pt x="52552" y="2413000"/>
                  </a:lnTo>
                  <a:cubicBezTo>
                    <a:pt x="38614" y="2413000"/>
                    <a:pt x="25247" y="2407463"/>
                    <a:pt x="15392" y="2397608"/>
                  </a:cubicBezTo>
                  <a:cubicBezTo>
                    <a:pt x="5537" y="2387753"/>
                    <a:pt x="0" y="2374386"/>
                    <a:pt x="0" y="2360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176B9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3683000" cy="240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45"/>
                </a:lnSpc>
              </a:pPr>
              <a:r>
                <a:rPr lang="en-US" sz="195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2 × TT MOTORS</a:t>
              </a:r>
            </a:p>
            <a:p>
              <a:pPr algn="ctr">
                <a:lnSpc>
                  <a:spcPts val="2145"/>
                </a:lnSpc>
              </a:pPr>
              <a:r>
                <a:rPr lang="en-US" sz="195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ACTUATION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239000" y="6762750"/>
            <a:ext cx="4762500" cy="1238250"/>
            <a:chOff x="0" y="0"/>
            <a:chExt cx="6350000" cy="1651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50000" cy="1651000"/>
            </a:xfrm>
            <a:custGeom>
              <a:avLst/>
              <a:gdLst/>
              <a:ahLst/>
              <a:cxnLst/>
              <a:rect l="l" t="t" r="r" b="b"/>
              <a:pathLst>
                <a:path w="6350000" h="1651000">
                  <a:moveTo>
                    <a:pt x="30480" y="0"/>
                  </a:moveTo>
                  <a:lnTo>
                    <a:pt x="6319520" y="0"/>
                  </a:lnTo>
                  <a:cubicBezTo>
                    <a:pt x="6336354" y="0"/>
                    <a:pt x="6350000" y="13646"/>
                    <a:pt x="6350000" y="30480"/>
                  </a:cubicBezTo>
                  <a:lnTo>
                    <a:pt x="6350000" y="1620520"/>
                  </a:lnTo>
                  <a:cubicBezTo>
                    <a:pt x="6350000" y="1637354"/>
                    <a:pt x="6336354" y="1651000"/>
                    <a:pt x="6319520" y="1651000"/>
                  </a:cubicBezTo>
                  <a:lnTo>
                    <a:pt x="30480" y="1651000"/>
                  </a:lnTo>
                  <a:cubicBezTo>
                    <a:pt x="13646" y="1651000"/>
                    <a:pt x="0" y="1637354"/>
                    <a:pt x="0" y="1620520"/>
                  </a:cubicBezTo>
                  <a:lnTo>
                    <a:pt x="0" y="30480"/>
                  </a:lnTo>
                  <a:cubicBezTo>
                    <a:pt x="0" y="13646"/>
                    <a:pt x="13646" y="0"/>
                    <a:pt x="30480" y="0"/>
                  </a:cubicBezTo>
                  <a:close/>
                </a:path>
              </a:pathLst>
            </a:custGeom>
            <a:solidFill>
              <a:srgbClr val="223B5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9050"/>
              <a:ext cx="6350000" cy="1631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800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18650 BATTERY + 5V REGULATION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4476750" y="4143375"/>
            <a:ext cx="1143000" cy="0"/>
          </a:xfrm>
          <a:prstGeom prst="line">
            <a:avLst/>
          </a:prstGeom>
          <a:ln w="47625" cap="rnd">
            <a:solidFill>
              <a:srgbClr val="38BD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9048750" y="4143375"/>
            <a:ext cx="1143000" cy="0"/>
          </a:xfrm>
          <a:prstGeom prst="line">
            <a:avLst/>
          </a:prstGeom>
          <a:ln w="47625" cap="rnd">
            <a:solidFill>
              <a:srgbClr val="38BD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13525500" y="4143375"/>
            <a:ext cx="1143000" cy="0"/>
          </a:xfrm>
          <a:prstGeom prst="line">
            <a:avLst/>
          </a:prstGeom>
          <a:ln w="47625" cap="rnd">
            <a:solidFill>
              <a:srgbClr val="38BDF8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 flipV="1">
            <a:off x="9620250" y="5334000"/>
            <a:ext cx="0" cy="1428750"/>
          </a:xfrm>
          <a:prstGeom prst="line">
            <a:avLst/>
          </a:prstGeom>
          <a:ln w="38100" cap="flat">
            <a:solidFill>
              <a:srgbClr val="8FB3D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 flipH="1">
            <a:off x="2667000" y="5810250"/>
            <a:ext cx="13335000" cy="0"/>
          </a:xfrm>
          <a:prstGeom prst="line">
            <a:avLst/>
          </a:prstGeom>
          <a:ln w="28575" cap="flat">
            <a:solidFill>
              <a:srgbClr val="38BDF8"/>
            </a:solidFill>
            <a:prstDash val="lg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>
            <a:off x="762000" y="9715500"/>
            <a:ext cx="16764000" cy="0"/>
          </a:xfrm>
          <a:prstGeom prst="line">
            <a:avLst/>
          </a:prstGeom>
          <a:ln w="9525" cap="flat">
            <a:solidFill>
              <a:srgbClr val="31506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762000" y="9810750"/>
            <a:ext cx="6667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CSE2102  |  Microprocessor and Microcontrollers Lab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764000" y="9791700"/>
            <a:ext cx="76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38BDF8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57225"/>
            <a:ext cx="14287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 b="1">
                <a:solidFill>
                  <a:srgbClr val="10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Hardware Components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1050" y="1323975"/>
            <a:ext cx="12382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Bill of materials and functional role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2047875"/>
            <a:ext cx="16573500" cy="619125"/>
            <a:chOff x="0" y="0"/>
            <a:chExt cx="22098000" cy="825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98000" cy="825500"/>
            </a:xfrm>
            <a:custGeom>
              <a:avLst/>
              <a:gdLst/>
              <a:ahLst/>
              <a:cxnLst/>
              <a:rect l="l" t="t" r="r" b="b"/>
              <a:pathLst>
                <a:path w="22098000" h="825500">
                  <a:moveTo>
                    <a:pt x="0" y="0"/>
                  </a:moveTo>
                  <a:lnTo>
                    <a:pt x="22098000" y="0"/>
                  </a:lnTo>
                  <a:lnTo>
                    <a:pt x="22098000" y="825500"/>
                  </a:lnTo>
                  <a:lnTo>
                    <a:pt x="0" y="825500"/>
                  </a:lnTo>
                  <a:close/>
                </a:path>
              </a:pathLst>
            </a:custGeom>
            <a:solidFill>
              <a:srgbClr val="124E8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2098000" cy="86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90625" y="2209800"/>
            <a:ext cx="15811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COMPONENT                         QUANTITY       PURPOSE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7250" y="2762250"/>
            <a:ext cx="16573500" cy="590550"/>
            <a:chOff x="0" y="0"/>
            <a:chExt cx="22098000" cy="7874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2098000" cy="787400"/>
              <a:chOff x="0" y="0"/>
              <a:chExt cx="22098000" cy="787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2098000" cy="787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787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787400"/>
                    </a:lnTo>
                    <a:lnTo>
                      <a:pt x="0" y="7874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22098000" cy="825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444500" y="161925"/>
              <a:ext cx="21082000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Arduino Uno                        1              Main controller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3429000"/>
            <a:ext cx="16573500" cy="590550"/>
            <a:chOff x="0" y="0"/>
            <a:chExt cx="22098000" cy="7874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22098000" cy="787400"/>
              <a:chOff x="0" y="0"/>
              <a:chExt cx="22098000" cy="787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2098000" cy="787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787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787400"/>
                    </a:lnTo>
                    <a:lnTo>
                      <a:pt x="0" y="787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22098000" cy="825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444500" y="161925"/>
              <a:ext cx="21082000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L298N Motor Driver                 1              Motor control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" y="4095750"/>
            <a:ext cx="16573500" cy="590550"/>
            <a:chOff x="0" y="0"/>
            <a:chExt cx="22098000" cy="7874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22098000" cy="787400"/>
              <a:chOff x="0" y="0"/>
              <a:chExt cx="22098000" cy="7874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2098000" cy="787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787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787400"/>
                    </a:lnTo>
                    <a:lnTo>
                      <a:pt x="0" y="7874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22098000" cy="825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444500" y="161925"/>
              <a:ext cx="21082000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TT Gear Motor                      2              Robot locomotion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57250" y="4762500"/>
            <a:ext cx="16573500" cy="590550"/>
            <a:chOff x="0" y="0"/>
            <a:chExt cx="22098000" cy="7874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22098000" cy="787400"/>
              <a:chOff x="0" y="0"/>
              <a:chExt cx="22098000" cy="7874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2098000" cy="787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787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787400"/>
                    </a:lnTo>
                    <a:lnTo>
                      <a:pt x="0" y="787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22098000" cy="825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444500" y="161925"/>
              <a:ext cx="21082000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HC-SR04 Ultrasonic Sensor          1              Obstacle detection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57250" y="5429250"/>
            <a:ext cx="16573500" cy="590550"/>
            <a:chOff x="0" y="0"/>
            <a:chExt cx="22098000" cy="78740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22098000" cy="787400"/>
              <a:chOff x="0" y="0"/>
              <a:chExt cx="22098000" cy="7874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2098000" cy="787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787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787400"/>
                    </a:lnTo>
                    <a:lnTo>
                      <a:pt x="0" y="7874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22098000" cy="825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444500" y="161925"/>
              <a:ext cx="21082000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SG90 Servo Motor                   1              Sensor scanning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" y="6096000"/>
            <a:ext cx="16573500" cy="590550"/>
            <a:chOff x="0" y="0"/>
            <a:chExt cx="22098000" cy="7874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22098000" cy="787400"/>
              <a:chOff x="0" y="0"/>
              <a:chExt cx="22098000" cy="7874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22098000" cy="787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787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787400"/>
                    </a:lnTo>
                    <a:lnTo>
                      <a:pt x="0" y="787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22098000" cy="825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444500" y="161925"/>
              <a:ext cx="21082000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2WD Chassis                        1              Robot frame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57250" y="6762750"/>
            <a:ext cx="16573500" cy="590550"/>
            <a:chOff x="0" y="0"/>
            <a:chExt cx="22098000" cy="787400"/>
          </a:xfrm>
        </p:grpSpPr>
        <p:grpSp>
          <p:nvGrpSpPr>
            <p:cNvPr id="42" name="Group 42"/>
            <p:cNvGrpSpPr/>
            <p:nvPr/>
          </p:nvGrpSpPr>
          <p:grpSpPr>
            <a:xfrm>
              <a:off x="0" y="0"/>
              <a:ext cx="22098000" cy="787400"/>
              <a:chOff x="0" y="0"/>
              <a:chExt cx="22098000" cy="7874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22098000" cy="787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787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787400"/>
                    </a:lnTo>
                    <a:lnTo>
                      <a:pt x="0" y="7874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22098000" cy="825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444500" y="161925"/>
              <a:ext cx="21082000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18650 Battery                      1              Power source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57250" y="7429500"/>
            <a:ext cx="16573500" cy="590550"/>
            <a:chOff x="0" y="0"/>
            <a:chExt cx="22098000" cy="787400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22098000" cy="787400"/>
              <a:chOff x="0" y="0"/>
              <a:chExt cx="22098000" cy="7874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22098000" cy="787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787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787400"/>
                    </a:lnTo>
                    <a:lnTo>
                      <a:pt x="0" y="787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38100"/>
                <a:ext cx="22098000" cy="825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444500" y="161925"/>
              <a:ext cx="21082000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Jumper Wires &amp; Breadboard          Various        Connections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57250" y="8096250"/>
            <a:ext cx="16573500" cy="590550"/>
            <a:chOff x="0" y="0"/>
            <a:chExt cx="22098000" cy="787400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22098000" cy="787400"/>
              <a:chOff x="0" y="0"/>
              <a:chExt cx="22098000" cy="7874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22098000" cy="787400"/>
              </a:xfrm>
              <a:custGeom>
                <a:avLst/>
                <a:gdLst/>
                <a:ahLst/>
                <a:cxnLst/>
                <a:rect l="l" t="t" r="r" b="b"/>
                <a:pathLst>
                  <a:path w="22098000" h="787400">
                    <a:moveTo>
                      <a:pt x="0" y="0"/>
                    </a:moveTo>
                    <a:lnTo>
                      <a:pt x="22098000" y="0"/>
                    </a:lnTo>
                    <a:lnTo>
                      <a:pt x="22098000" y="787400"/>
                    </a:lnTo>
                    <a:lnTo>
                      <a:pt x="0" y="7874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0" y="-38100"/>
                <a:ext cx="22098000" cy="825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444500" y="161925"/>
              <a:ext cx="21082000" cy="378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8"/>
                </a:lnSpc>
              </a:pPr>
              <a:r>
                <a:rPr lang="en-US" sz="172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7805 Voltage Regulator             1              Stable 5V supply</a:t>
              </a:r>
            </a:p>
          </p:txBody>
        </p:sp>
      </p:grpSp>
      <p:sp>
        <p:nvSpPr>
          <p:cNvPr id="56" name="AutoShape 56"/>
          <p:cNvSpPr/>
          <p:nvPr/>
        </p:nvSpPr>
        <p:spPr>
          <a:xfrm>
            <a:off x="762000" y="9715500"/>
            <a:ext cx="16764000" cy="0"/>
          </a:xfrm>
          <a:prstGeom prst="line">
            <a:avLst/>
          </a:prstGeom>
          <a:ln w="9525" cap="flat">
            <a:solidFill>
              <a:srgbClr val="CBD8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Box 57"/>
          <p:cNvSpPr txBox="1"/>
          <p:nvPr/>
        </p:nvSpPr>
        <p:spPr>
          <a:xfrm>
            <a:off x="762000" y="9810750"/>
            <a:ext cx="6667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CSE2102  |  Microprocessor and Microcontrollers Lab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6764000" y="9791700"/>
            <a:ext cx="76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124E8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57225"/>
            <a:ext cx="14287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 b="1">
                <a:solidFill>
                  <a:srgbClr val="10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Pin Mapping &amp; Wiring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1050" y="1323975"/>
            <a:ext cx="12382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Deterministic I/O allocation for sensing and motor control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952625"/>
            <a:ext cx="12096750" cy="619125"/>
            <a:chOff x="0" y="0"/>
            <a:chExt cx="16129000" cy="825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129000" cy="825500"/>
            </a:xfrm>
            <a:custGeom>
              <a:avLst/>
              <a:gdLst/>
              <a:ahLst/>
              <a:cxnLst/>
              <a:rect l="l" t="t" r="r" b="b"/>
              <a:pathLst>
                <a:path w="16129000" h="825500">
                  <a:moveTo>
                    <a:pt x="0" y="0"/>
                  </a:moveTo>
                  <a:lnTo>
                    <a:pt x="16129000" y="0"/>
                  </a:lnTo>
                  <a:lnTo>
                    <a:pt x="16129000" y="825500"/>
                  </a:lnTo>
                  <a:lnTo>
                    <a:pt x="0" y="825500"/>
                  </a:lnTo>
                  <a:close/>
                </a:path>
              </a:pathLst>
            </a:custGeom>
            <a:solidFill>
              <a:srgbClr val="124E8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129000" cy="86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90625" y="2114550"/>
            <a:ext cx="11239500" cy="290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SIGNAL                 ARDUINO PIN                 NOTES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144500" y="1952625"/>
            <a:ext cx="4381500" cy="6524625"/>
            <a:chOff x="0" y="0"/>
            <a:chExt cx="5842000" cy="8699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842000" cy="8699500"/>
            </a:xfrm>
            <a:custGeom>
              <a:avLst/>
              <a:gdLst/>
              <a:ahLst/>
              <a:cxnLst/>
              <a:rect l="l" t="t" r="r" b="b"/>
              <a:pathLst>
                <a:path w="5842000" h="8699500">
                  <a:moveTo>
                    <a:pt x="0" y="0"/>
                  </a:moveTo>
                  <a:lnTo>
                    <a:pt x="5842000" y="0"/>
                  </a:lnTo>
                  <a:lnTo>
                    <a:pt x="5842000" y="8699500"/>
                  </a:lnTo>
                  <a:lnTo>
                    <a:pt x="0" y="8699500"/>
                  </a:lnTo>
                  <a:close/>
                </a:path>
              </a:pathLst>
            </a:custGeom>
            <a:solidFill>
              <a:srgbClr val="071A3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842000" cy="8737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239750" y="2628900"/>
            <a:ext cx="3619500" cy="2001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WIRING NOTES</a:t>
            </a: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Remove ENA/ENB jumpers on L298N.</a:t>
            </a:r>
          </a:p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A common ground is mandatory across Arduino, driver, sensor, servo, and battery.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57250" y="2667000"/>
            <a:ext cx="12096750" cy="552450"/>
            <a:chOff x="0" y="0"/>
            <a:chExt cx="16129000" cy="7366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44500" y="161925"/>
              <a:ext cx="15113000" cy="354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ENA                     3                           Motor A enable (PWM)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57250" y="3295650"/>
            <a:ext cx="12096750" cy="552450"/>
            <a:chOff x="0" y="0"/>
            <a:chExt cx="16129000" cy="7366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44500" y="161925"/>
              <a:ext cx="15113000" cy="354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IN1                     7                           Motor A input 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7250" y="3924300"/>
            <a:ext cx="12096750" cy="552450"/>
            <a:chOff x="0" y="0"/>
            <a:chExt cx="16129000" cy="73660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444500" y="161925"/>
              <a:ext cx="15113000" cy="354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IN2                     6                           Motor A input 2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" y="4552950"/>
            <a:ext cx="12096750" cy="552450"/>
            <a:chOff x="0" y="0"/>
            <a:chExt cx="16129000" cy="7366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444500" y="161925"/>
              <a:ext cx="15113000" cy="354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IN3                     5                           Motor B input 1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57250" y="5181600"/>
            <a:ext cx="12096750" cy="552450"/>
            <a:chOff x="0" y="0"/>
            <a:chExt cx="16129000" cy="736600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444500" y="161925"/>
              <a:ext cx="15113000" cy="354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IN4                     4                           Motor B input 2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57250" y="5810250"/>
            <a:ext cx="12096750" cy="552450"/>
            <a:chOff x="0" y="0"/>
            <a:chExt cx="16129000" cy="736600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444500" y="161925"/>
              <a:ext cx="15113000" cy="354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ENB                     11                          Motor B enable (PWM)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57250" y="6438900"/>
            <a:ext cx="12096750" cy="552450"/>
            <a:chOff x="0" y="0"/>
            <a:chExt cx="16129000" cy="736600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444500" y="161925"/>
              <a:ext cx="15113000" cy="354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TRIG                    9                           Ultrasonic trigger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57250" y="7067550"/>
            <a:ext cx="12096750" cy="552450"/>
            <a:chOff x="0" y="0"/>
            <a:chExt cx="16129000" cy="736600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444500" y="161925"/>
              <a:ext cx="15113000" cy="354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ECHO                    8                           Ultrasonic echo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57250" y="7696200"/>
            <a:ext cx="12096750" cy="552450"/>
            <a:chOff x="0" y="0"/>
            <a:chExt cx="16129000" cy="736600"/>
          </a:xfrm>
        </p:grpSpPr>
        <p:grpSp>
          <p:nvGrpSpPr>
            <p:cNvPr id="56" name="Group 56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444500" y="161925"/>
              <a:ext cx="15113000" cy="354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27"/>
                </a:lnSpc>
              </a:pPr>
              <a:r>
                <a:rPr lang="en-US" sz="1650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SERVO                   10                          Servo control</a:t>
              </a:r>
            </a:p>
          </p:txBody>
        </p:sp>
      </p:grpSp>
      <p:sp>
        <p:nvSpPr>
          <p:cNvPr id="60" name="AutoShape 60"/>
          <p:cNvSpPr/>
          <p:nvPr/>
        </p:nvSpPr>
        <p:spPr>
          <a:xfrm>
            <a:off x="762000" y="9715500"/>
            <a:ext cx="16764000" cy="0"/>
          </a:xfrm>
          <a:prstGeom prst="line">
            <a:avLst/>
          </a:prstGeom>
          <a:ln w="9525" cap="flat">
            <a:solidFill>
              <a:srgbClr val="CBD8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Box 61"/>
          <p:cNvSpPr txBox="1"/>
          <p:nvPr/>
        </p:nvSpPr>
        <p:spPr>
          <a:xfrm>
            <a:off x="762000" y="9810750"/>
            <a:ext cx="6667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CSE2102  |  Microprocessor and Microcontrollers Lab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6764000" y="9791700"/>
            <a:ext cx="76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124E8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57225"/>
            <a:ext cx="14287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Overall Working Principle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1050" y="1323975"/>
            <a:ext cx="12382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FC2DF"/>
                </a:solidFill>
                <a:latin typeface="Source Sans 3"/>
                <a:ea typeface="Source Sans 3"/>
                <a:cs typeface="Source Sans 3"/>
                <a:sym typeface="Source Sans 3"/>
              </a:rPr>
              <a:t>A continuous sense–decide–act loop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2619375"/>
            <a:ext cx="5334000" cy="4572000"/>
            <a:chOff x="0" y="0"/>
            <a:chExt cx="7112000" cy="60960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112000" cy="6096000"/>
              <a:chOff x="0" y="0"/>
              <a:chExt cx="7112000" cy="6096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112000" cy="6096000"/>
              </a:xfrm>
              <a:custGeom>
                <a:avLst/>
                <a:gdLst/>
                <a:ahLst/>
                <a:cxnLst/>
                <a:rect l="l" t="t" r="r" b="b"/>
                <a:pathLst>
                  <a:path w="7112000" h="6096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solidFill>
                <a:srgbClr val="102C49"/>
              </a:solidFill>
              <a:ln w="19050" cap="sq">
                <a:solidFill>
                  <a:srgbClr val="31506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7112000" cy="613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444500" y="609600"/>
              <a:ext cx="6350000" cy="471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2550" b="1">
                  <a:solidFill>
                    <a:srgbClr val="38BDF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  SENSE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4500" y="1685925"/>
              <a:ext cx="6350000" cy="479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Trigger pulse → echo duration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4500" y="4225925"/>
              <a:ext cx="6350000" cy="389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FC2D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Valid: 2–200 cm  |  Timeout: 12,000 µs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0" y="2619375"/>
            <a:ext cx="5334000" cy="4572000"/>
            <a:chOff x="0" y="0"/>
            <a:chExt cx="7112000" cy="60960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7112000" cy="6096000"/>
              <a:chOff x="0" y="0"/>
              <a:chExt cx="7112000" cy="6096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112000" cy="6096000"/>
              </a:xfrm>
              <a:custGeom>
                <a:avLst/>
                <a:gdLst/>
                <a:ahLst/>
                <a:cxnLst/>
                <a:rect l="l" t="t" r="r" b="b"/>
                <a:pathLst>
                  <a:path w="7112000" h="6096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solidFill>
                <a:srgbClr val="102C49"/>
              </a:solidFill>
              <a:ln w="19050" cap="sq">
                <a:solidFill>
                  <a:srgbClr val="38BDF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7112000" cy="613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444500" y="609600"/>
              <a:ext cx="6350000" cy="471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2550" b="1">
                  <a:solidFill>
                    <a:srgbClr val="38BDF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  DECIDE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4500" y="1685925"/>
              <a:ext cx="6350000" cy="479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Distance = (duration × 0.0343) /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4500" y="4225925"/>
              <a:ext cx="6350000" cy="389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FC2D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Obstacle when distance ≤ 30 cm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477750" y="2619375"/>
            <a:ext cx="5334000" cy="4572000"/>
            <a:chOff x="0" y="0"/>
            <a:chExt cx="7112000" cy="60960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112000" cy="6096000"/>
              <a:chOff x="0" y="0"/>
              <a:chExt cx="7112000" cy="6096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112000" cy="6096000"/>
              </a:xfrm>
              <a:custGeom>
                <a:avLst/>
                <a:gdLst/>
                <a:ahLst/>
                <a:cxnLst/>
                <a:rect l="l" t="t" r="r" b="b"/>
                <a:pathLst>
                  <a:path w="7112000" h="6096000">
                    <a:moveTo>
                      <a:pt x="0" y="0"/>
                    </a:moveTo>
                    <a:lnTo>
                      <a:pt x="7112000" y="0"/>
                    </a:lnTo>
                    <a:lnTo>
                      <a:pt x="7112000" y="6096000"/>
                    </a:lnTo>
                    <a:lnTo>
                      <a:pt x="0" y="6096000"/>
                    </a:lnTo>
                    <a:close/>
                  </a:path>
                </a:pathLst>
              </a:custGeom>
              <a:solidFill>
                <a:srgbClr val="102C49"/>
              </a:solidFill>
              <a:ln w="19050" cap="sq">
                <a:solidFill>
                  <a:srgbClr val="31506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7112000" cy="6134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444500" y="609600"/>
              <a:ext cx="6350000" cy="471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2550" b="1">
                  <a:solidFill>
                    <a:srgbClr val="38BDF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  ACT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4500" y="1685925"/>
              <a:ext cx="6350000" cy="479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Forward • left • right • turnaround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4500" y="4225925"/>
              <a:ext cx="6350000" cy="389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FC2D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PWM commands drive both motors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762000" y="9715500"/>
            <a:ext cx="16764000" cy="0"/>
          </a:xfrm>
          <a:prstGeom prst="line">
            <a:avLst/>
          </a:prstGeom>
          <a:ln w="9525" cap="flat">
            <a:solidFill>
              <a:srgbClr val="31506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762000" y="9810750"/>
            <a:ext cx="6667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CSE2102  |  Microprocessor and Microcontrollers Lab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764000" y="9791700"/>
            <a:ext cx="76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38BDF8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57225"/>
            <a:ext cx="14287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 b="1">
                <a:solidFill>
                  <a:srgbClr val="10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 Logic / State Machine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1050" y="1323975"/>
            <a:ext cx="12382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Cruise at PWM 130; scan only when the forward path is blocked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2571750"/>
            <a:ext cx="2476500" cy="1047750"/>
            <a:chOff x="0" y="0"/>
            <a:chExt cx="3302000" cy="1397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02000" cy="1397000"/>
            </a:xfrm>
            <a:custGeom>
              <a:avLst/>
              <a:gdLst/>
              <a:ahLst/>
              <a:cxnLst/>
              <a:rect l="l" t="t" r="r" b="b"/>
              <a:pathLst>
                <a:path w="3302000" h="1397000">
                  <a:moveTo>
                    <a:pt x="58615" y="0"/>
                  </a:moveTo>
                  <a:lnTo>
                    <a:pt x="3243385" y="0"/>
                  </a:lnTo>
                  <a:cubicBezTo>
                    <a:pt x="3275757" y="0"/>
                    <a:pt x="3302000" y="26243"/>
                    <a:pt x="3302000" y="58615"/>
                  </a:cubicBezTo>
                  <a:lnTo>
                    <a:pt x="3302000" y="1338385"/>
                  </a:lnTo>
                  <a:cubicBezTo>
                    <a:pt x="3302000" y="1370757"/>
                    <a:pt x="3275757" y="1397000"/>
                    <a:pt x="3243385" y="1397000"/>
                  </a:cubicBezTo>
                  <a:lnTo>
                    <a:pt x="58615" y="1397000"/>
                  </a:lnTo>
                  <a:cubicBezTo>
                    <a:pt x="26243" y="1397000"/>
                    <a:pt x="0" y="1370757"/>
                    <a:pt x="0" y="1338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124E8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3302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CRUISE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PWM 130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095750" y="2571750"/>
            <a:ext cx="2762250" cy="1047750"/>
            <a:chOff x="0" y="0"/>
            <a:chExt cx="3683000" cy="1397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683000" cy="1397000"/>
            </a:xfrm>
            <a:custGeom>
              <a:avLst/>
              <a:gdLst/>
              <a:ahLst/>
              <a:cxnLst/>
              <a:rect l="l" t="t" r="r" b="b"/>
              <a:pathLst>
                <a:path w="3683000" h="1397000">
                  <a:moveTo>
                    <a:pt x="52552" y="0"/>
                  </a:moveTo>
                  <a:lnTo>
                    <a:pt x="3630448" y="0"/>
                  </a:lnTo>
                  <a:cubicBezTo>
                    <a:pt x="3644386" y="0"/>
                    <a:pt x="3657753" y="5537"/>
                    <a:pt x="3667608" y="15392"/>
                  </a:cubicBezTo>
                  <a:cubicBezTo>
                    <a:pt x="3677463" y="25247"/>
                    <a:pt x="3683000" y="38614"/>
                    <a:pt x="3683000" y="52552"/>
                  </a:cubicBezTo>
                  <a:lnTo>
                    <a:pt x="3683000" y="1344448"/>
                  </a:lnTo>
                  <a:cubicBezTo>
                    <a:pt x="3683000" y="1358386"/>
                    <a:pt x="3677463" y="1371753"/>
                    <a:pt x="3667608" y="1381608"/>
                  </a:cubicBezTo>
                  <a:cubicBezTo>
                    <a:pt x="3657753" y="1391463"/>
                    <a:pt x="3644386" y="1397000"/>
                    <a:pt x="3630448" y="1397000"/>
                  </a:cubicBezTo>
                  <a:lnTo>
                    <a:pt x="52552" y="1397000"/>
                  </a:lnTo>
                  <a:cubicBezTo>
                    <a:pt x="38614" y="1397000"/>
                    <a:pt x="25247" y="1391463"/>
                    <a:pt x="15392" y="1381608"/>
                  </a:cubicBezTo>
                  <a:cubicBezTo>
                    <a:pt x="5537" y="1371753"/>
                    <a:pt x="0" y="1358386"/>
                    <a:pt x="0" y="1344448"/>
                  </a:cubicBezTo>
                  <a:lnTo>
                    <a:pt x="0" y="52552"/>
                  </a:lnTo>
                  <a:cubicBezTo>
                    <a:pt x="0" y="38614"/>
                    <a:pt x="5537" y="25247"/>
                    <a:pt x="15392" y="15392"/>
                  </a:cubicBezTo>
                  <a:cubicBezTo>
                    <a:pt x="25247" y="5537"/>
                    <a:pt x="38614" y="0"/>
                    <a:pt x="52552" y="0"/>
                  </a:cubicBezTo>
                  <a:close/>
                </a:path>
              </a:pathLst>
            </a:custGeom>
            <a:solidFill>
              <a:srgbClr val="176B9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3683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OBSTACLE ≤ 30 cm?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0" y="2571750"/>
            <a:ext cx="2667000" cy="1047750"/>
            <a:chOff x="0" y="0"/>
            <a:chExt cx="3556000" cy="1397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56000" cy="1397000"/>
            </a:xfrm>
            <a:custGeom>
              <a:avLst/>
              <a:gdLst/>
              <a:ahLst/>
              <a:cxnLst/>
              <a:rect l="l" t="t" r="r" b="b"/>
              <a:pathLst>
                <a:path w="3556000" h="1397000">
                  <a:moveTo>
                    <a:pt x="54429" y="0"/>
                  </a:moveTo>
                  <a:lnTo>
                    <a:pt x="3501572" y="0"/>
                  </a:lnTo>
                  <a:cubicBezTo>
                    <a:pt x="3531631" y="0"/>
                    <a:pt x="3556000" y="24369"/>
                    <a:pt x="3556000" y="54429"/>
                  </a:cubicBezTo>
                  <a:lnTo>
                    <a:pt x="3556000" y="1342571"/>
                  </a:lnTo>
                  <a:cubicBezTo>
                    <a:pt x="3556000" y="1372632"/>
                    <a:pt x="3531631" y="1397000"/>
                    <a:pt x="3501572" y="1397000"/>
                  </a:cubicBezTo>
                  <a:lnTo>
                    <a:pt x="54429" y="1397000"/>
                  </a:lnTo>
                  <a:cubicBezTo>
                    <a:pt x="24369" y="1397000"/>
                    <a:pt x="0" y="1372632"/>
                    <a:pt x="0" y="1342571"/>
                  </a:cubicBezTo>
                  <a:lnTo>
                    <a:pt x="0" y="54429"/>
                  </a:lnTo>
                  <a:cubicBezTo>
                    <a:pt x="0" y="24369"/>
                    <a:pt x="24369" y="0"/>
                    <a:pt x="54429" y="0"/>
                  </a:cubicBezTo>
                  <a:close/>
                </a:path>
              </a:pathLst>
            </a:custGeom>
            <a:solidFill>
              <a:srgbClr val="124E8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3556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STOP &amp; SETTLE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150 ms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049000" y="2095500"/>
            <a:ext cx="2476500" cy="1047750"/>
            <a:chOff x="0" y="0"/>
            <a:chExt cx="3302000" cy="1397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302000" cy="1397000"/>
            </a:xfrm>
            <a:custGeom>
              <a:avLst/>
              <a:gdLst/>
              <a:ahLst/>
              <a:cxnLst/>
              <a:rect l="l" t="t" r="r" b="b"/>
              <a:pathLst>
                <a:path w="3302000" h="1397000">
                  <a:moveTo>
                    <a:pt x="58615" y="0"/>
                  </a:moveTo>
                  <a:lnTo>
                    <a:pt x="3243385" y="0"/>
                  </a:lnTo>
                  <a:cubicBezTo>
                    <a:pt x="3275757" y="0"/>
                    <a:pt x="3302000" y="26243"/>
                    <a:pt x="3302000" y="58615"/>
                  </a:cubicBezTo>
                  <a:lnTo>
                    <a:pt x="3302000" y="1338385"/>
                  </a:lnTo>
                  <a:cubicBezTo>
                    <a:pt x="3302000" y="1370757"/>
                    <a:pt x="3275757" y="1397000"/>
                    <a:pt x="3243385" y="1397000"/>
                  </a:cubicBezTo>
                  <a:lnTo>
                    <a:pt x="58615" y="1397000"/>
                  </a:lnTo>
                  <a:cubicBezTo>
                    <a:pt x="26243" y="1397000"/>
                    <a:pt x="0" y="1370757"/>
                    <a:pt x="0" y="1338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176B9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3302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SCAN LEFT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150°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049000" y="3714750"/>
            <a:ext cx="2476500" cy="1047750"/>
            <a:chOff x="0" y="0"/>
            <a:chExt cx="3302000" cy="1397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302000" cy="1397000"/>
            </a:xfrm>
            <a:custGeom>
              <a:avLst/>
              <a:gdLst/>
              <a:ahLst/>
              <a:cxnLst/>
              <a:rect l="l" t="t" r="r" b="b"/>
              <a:pathLst>
                <a:path w="3302000" h="1397000">
                  <a:moveTo>
                    <a:pt x="58615" y="0"/>
                  </a:moveTo>
                  <a:lnTo>
                    <a:pt x="3243385" y="0"/>
                  </a:lnTo>
                  <a:cubicBezTo>
                    <a:pt x="3275757" y="0"/>
                    <a:pt x="3302000" y="26243"/>
                    <a:pt x="3302000" y="58615"/>
                  </a:cubicBezTo>
                  <a:lnTo>
                    <a:pt x="3302000" y="1338385"/>
                  </a:lnTo>
                  <a:cubicBezTo>
                    <a:pt x="3302000" y="1370757"/>
                    <a:pt x="3275757" y="1397000"/>
                    <a:pt x="3243385" y="1397000"/>
                  </a:cubicBezTo>
                  <a:lnTo>
                    <a:pt x="58615" y="1397000"/>
                  </a:lnTo>
                  <a:cubicBezTo>
                    <a:pt x="26243" y="1397000"/>
                    <a:pt x="0" y="1370757"/>
                    <a:pt x="0" y="1338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176B9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9050"/>
              <a:ext cx="3302000" cy="1377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SCAN RIGHT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30°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382750" y="2857500"/>
            <a:ext cx="2857500" cy="1238250"/>
            <a:chOff x="0" y="0"/>
            <a:chExt cx="3810000" cy="1651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10000" cy="1651000"/>
            </a:xfrm>
            <a:custGeom>
              <a:avLst/>
              <a:gdLst/>
              <a:ahLst/>
              <a:cxnLst/>
              <a:rect l="l" t="t" r="r" b="b"/>
              <a:pathLst>
                <a:path w="3810000" h="16510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1600200"/>
                  </a:lnTo>
                  <a:cubicBezTo>
                    <a:pt x="3810000" y="1628256"/>
                    <a:pt x="3787256" y="1651000"/>
                    <a:pt x="3759200" y="1651000"/>
                  </a:cubicBezTo>
                  <a:lnTo>
                    <a:pt x="50800" y="1651000"/>
                  </a:lnTo>
                  <a:cubicBezTo>
                    <a:pt x="22744" y="1651000"/>
                    <a:pt x="0" y="1628256"/>
                    <a:pt x="0" y="16002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24E8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9050"/>
              <a:ext cx="3810000" cy="1631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COMPARE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LEFT vs RIGHT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524250" y="6667500"/>
            <a:ext cx="2857500" cy="1095375"/>
            <a:chOff x="0" y="0"/>
            <a:chExt cx="3810000" cy="14605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810000" cy="1460500"/>
            </a:xfrm>
            <a:custGeom>
              <a:avLst/>
              <a:gdLst/>
              <a:ahLst/>
              <a:cxnLst/>
              <a:rect l="l" t="t" r="r" b="b"/>
              <a:pathLst>
                <a:path w="3810000" h="14605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1409700"/>
                  </a:lnTo>
                  <a:cubicBezTo>
                    <a:pt x="3810000" y="1437756"/>
                    <a:pt x="3787256" y="1460500"/>
                    <a:pt x="3759200" y="1460500"/>
                  </a:cubicBezTo>
                  <a:lnTo>
                    <a:pt x="50800" y="1460500"/>
                  </a:lnTo>
                  <a:cubicBezTo>
                    <a:pt x="22744" y="1460500"/>
                    <a:pt x="0" y="1437756"/>
                    <a:pt x="0" y="14097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F9D7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19050"/>
              <a:ext cx="3810000" cy="144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TURN LEFT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PWM 230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15250" y="6667500"/>
            <a:ext cx="2857500" cy="1095375"/>
            <a:chOff x="0" y="0"/>
            <a:chExt cx="3810000" cy="14605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810000" cy="1460500"/>
            </a:xfrm>
            <a:custGeom>
              <a:avLst/>
              <a:gdLst/>
              <a:ahLst/>
              <a:cxnLst/>
              <a:rect l="l" t="t" r="r" b="b"/>
              <a:pathLst>
                <a:path w="3810000" h="14605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1409700"/>
                  </a:lnTo>
                  <a:cubicBezTo>
                    <a:pt x="3810000" y="1437756"/>
                    <a:pt x="3787256" y="1460500"/>
                    <a:pt x="3759200" y="1460500"/>
                  </a:cubicBezTo>
                  <a:lnTo>
                    <a:pt x="50800" y="1460500"/>
                  </a:lnTo>
                  <a:cubicBezTo>
                    <a:pt x="22744" y="1460500"/>
                    <a:pt x="0" y="1437756"/>
                    <a:pt x="0" y="14097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D95D5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19050"/>
              <a:ext cx="3810000" cy="144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TURN AROUND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800 ms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906250" y="6667500"/>
            <a:ext cx="2857500" cy="1095375"/>
            <a:chOff x="0" y="0"/>
            <a:chExt cx="3810000" cy="14605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810000" cy="1460500"/>
            </a:xfrm>
            <a:custGeom>
              <a:avLst/>
              <a:gdLst/>
              <a:ahLst/>
              <a:cxnLst/>
              <a:rect l="l" t="t" r="r" b="b"/>
              <a:pathLst>
                <a:path w="3810000" h="1460500">
                  <a:moveTo>
                    <a:pt x="50800" y="0"/>
                  </a:moveTo>
                  <a:lnTo>
                    <a:pt x="3759200" y="0"/>
                  </a:lnTo>
                  <a:cubicBezTo>
                    <a:pt x="3787256" y="0"/>
                    <a:pt x="3810000" y="22744"/>
                    <a:pt x="3810000" y="50800"/>
                  </a:cubicBezTo>
                  <a:lnTo>
                    <a:pt x="3810000" y="1409700"/>
                  </a:lnTo>
                  <a:cubicBezTo>
                    <a:pt x="3810000" y="1437756"/>
                    <a:pt x="3787256" y="1460500"/>
                    <a:pt x="3759200" y="1460500"/>
                  </a:cubicBezTo>
                  <a:lnTo>
                    <a:pt x="50800" y="1460500"/>
                  </a:lnTo>
                  <a:cubicBezTo>
                    <a:pt x="22744" y="1460500"/>
                    <a:pt x="0" y="1437756"/>
                    <a:pt x="0" y="1409700"/>
                  </a:cubicBez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</a:path>
              </a:pathLst>
            </a:custGeom>
            <a:solidFill>
              <a:srgbClr val="1F9D75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19050"/>
              <a:ext cx="3810000" cy="144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TURN RIGHT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1">
                  <a:solidFill>
                    <a:srgbClr val="FFFFFF"/>
                  </a:solidFill>
                  <a:latin typeface="Source Sans 3 Bold"/>
                  <a:ea typeface="Source Sans 3 Bold"/>
                  <a:cs typeface="Source Sans 3 Bold"/>
                  <a:sym typeface="Source Sans 3 Bold"/>
                </a:rPr>
                <a:t>PWM 230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>
            <a:off x="3333750" y="3095625"/>
            <a:ext cx="762000" cy="0"/>
          </a:xfrm>
          <a:prstGeom prst="line">
            <a:avLst/>
          </a:prstGeom>
          <a:ln w="28575" cap="flat">
            <a:solidFill>
              <a:srgbClr val="124E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5" name="AutoShape 35"/>
          <p:cNvSpPr/>
          <p:nvPr/>
        </p:nvSpPr>
        <p:spPr>
          <a:xfrm>
            <a:off x="6858000" y="3095625"/>
            <a:ext cx="762000" cy="0"/>
          </a:xfrm>
          <a:prstGeom prst="line">
            <a:avLst/>
          </a:prstGeom>
          <a:ln w="28575" cap="flat">
            <a:solidFill>
              <a:srgbClr val="124E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AutoShape 36"/>
          <p:cNvSpPr/>
          <p:nvPr/>
        </p:nvSpPr>
        <p:spPr>
          <a:xfrm flipV="1">
            <a:off x="10287000" y="2619375"/>
            <a:ext cx="762000" cy="476250"/>
          </a:xfrm>
          <a:prstGeom prst="line">
            <a:avLst/>
          </a:prstGeom>
          <a:ln w="28575" cap="flat">
            <a:solidFill>
              <a:srgbClr val="124E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7" name="AutoShape 37"/>
          <p:cNvSpPr/>
          <p:nvPr/>
        </p:nvSpPr>
        <p:spPr>
          <a:xfrm>
            <a:off x="10287000" y="3095625"/>
            <a:ext cx="762000" cy="1143000"/>
          </a:xfrm>
          <a:prstGeom prst="line">
            <a:avLst/>
          </a:prstGeom>
          <a:ln w="28575" cap="flat">
            <a:solidFill>
              <a:srgbClr val="124E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8" name="AutoShape 38"/>
          <p:cNvSpPr/>
          <p:nvPr/>
        </p:nvSpPr>
        <p:spPr>
          <a:xfrm>
            <a:off x="13525500" y="2619375"/>
            <a:ext cx="857250" cy="666750"/>
          </a:xfrm>
          <a:prstGeom prst="line">
            <a:avLst/>
          </a:prstGeom>
          <a:ln w="28575" cap="flat">
            <a:solidFill>
              <a:srgbClr val="124E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9" name="AutoShape 39"/>
          <p:cNvSpPr/>
          <p:nvPr/>
        </p:nvSpPr>
        <p:spPr>
          <a:xfrm flipV="1">
            <a:off x="13525500" y="3714750"/>
            <a:ext cx="857250" cy="523875"/>
          </a:xfrm>
          <a:prstGeom prst="line">
            <a:avLst/>
          </a:prstGeom>
          <a:ln w="28575" cap="flat">
            <a:solidFill>
              <a:srgbClr val="124E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" name="AutoShape 40"/>
          <p:cNvSpPr/>
          <p:nvPr/>
        </p:nvSpPr>
        <p:spPr>
          <a:xfrm flipH="1">
            <a:off x="13335000" y="4095750"/>
            <a:ext cx="2476500" cy="2571750"/>
          </a:xfrm>
          <a:prstGeom prst="line">
            <a:avLst/>
          </a:prstGeom>
          <a:ln w="28575" cap="flat">
            <a:solidFill>
              <a:srgbClr val="124E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" name="AutoShape 41"/>
          <p:cNvSpPr/>
          <p:nvPr/>
        </p:nvSpPr>
        <p:spPr>
          <a:xfrm flipH="1">
            <a:off x="9144000" y="4095750"/>
            <a:ext cx="6096000" cy="2571750"/>
          </a:xfrm>
          <a:prstGeom prst="line">
            <a:avLst/>
          </a:prstGeom>
          <a:ln w="28575" cap="flat">
            <a:solidFill>
              <a:srgbClr val="124E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2" name="AutoShape 42"/>
          <p:cNvSpPr/>
          <p:nvPr/>
        </p:nvSpPr>
        <p:spPr>
          <a:xfrm flipH="1">
            <a:off x="4953000" y="4095750"/>
            <a:ext cx="9715500" cy="2571750"/>
          </a:xfrm>
          <a:prstGeom prst="line">
            <a:avLst/>
          </a:prstGeom>
          <a:ln w="28575" cap="flat">
            <a:solidFill>
              <a:srgbClr val="124E8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3" name="AutoShape 43"/>
          <p:cNvSpPr/>
          <p:nvPr/>
        </p:nvSpPr>
        <p:spPr>
          <a:xfrm>
            <a:off x="762000" y="9715500"/>
            <a:ext cx="16764000" cy="0"/>
          </a:xfrm>
          <a:prstGeom prst="line">
            <a:avLst/>
          </a:prstGeom>
          <a:ln w="9525" cap="flat">
            <a:solidFill>
              <a:srgbClr val="CBD8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762000" y="9810750"/>
            <a:ext cx="6667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CSE2102  |  Microprocessor and Microcontrollers Lab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6764000" y="9791700"/>
            <a:ext cx="76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124E8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57225"/>
            <a:ext cx="14287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 b="1">
                <a:solidFill>
                  <a:srgbClr val="10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Decision Logic &amp; Tuning Parameters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1050" y="1323975"/>
            <a:ext cx="12382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All behavior is governed by explicit, testable constants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1952625"/>
            <a:ext cx="12096750" cy="619125"/>
            <a:chOff x="0" y="0"/>
            <a:chExt cx="16129000" cy="825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129000" cy="825500"/>
            </a:xfrm>
            <a:custGeom>
              <a:avLst/>
              <a:gdLst/>
              <a:ahLst/>
              <a:cxnLst/>
              <a:rect l="l" t="t" r="r" b="b"/>
              <a:pathLst>
                <a:path w="16129000" h="825500">
                  <a:moveTo>
                    <a:pt x="0" y="0"/>
                  </a:moveTo>
                  <a:lnTo>
                    <a:pt x="16129000" y="0"/>
                  </a:lnTo>
                  <a:lnTo>
                    <a:pt x="16129000" y="825500"/>
                  </a:lnTo>
                  <a:lnTo>
                    <a:pt x="0" y="825500"/>
                  </a:lnTo>
                  <a:close/>
                </a:path>
              </a:pathLst>
            </a:custGeom>
            <a:solidFill>
              <a:srgbClr val="124E8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129000" cy="86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90625" y="2114550"/>
            <a:ext cx="11430000" cy="273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sz="165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PARAMETER                         VALUE              DESCRIPTION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335000" y="2381250"/>
            <a:ext cx="3810000" cy="4095750"/>
            <a:chOff x="0" y="0"/>
            <a:chExt cx="5080000" cy="5461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80000" cy="5461000"/>
            </a:xfrm>
            <a:custGeom>
              <a:avLst/>
              <a:gdLst/>
              <a:ahLst/>
              <a:cxnLst/>
              <a:rect l="l" t="t" r="r" b="b"/>
              <a:pathLst>
                <a:path w="5080000" h="5461000">
                  <a:moveTo>
                    <a:pt x="0" y="0"/>
                  </a:moveTo>
                  <a:lnTo>
                    <a:pt x="5080000" y="0"/>
                  </a:lnTo>
                  <a:lnTo>
                    <a:pt x="5080000" y="5461000"/>
                  </a:lnTo>
                  <a:lnTo>
                    <a:pt x="0" y="5461000"/>
                  </a:lnTo>
                  <a:close/>
                </a:path>
              </a:pathLst>
            </a:custGeom>
            <a:solidFill>
              <a:srgbClr val="071A3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080000" cy="549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620750" y="3067050"/>
            <a:ext cx="3143250" cy="699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1"/>
              </a:lnSpc>
            </a:pPr>
            <a:r>
              <a:rPr lang="en-US" sz="17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DECISION RULE</a:t>
            </a:r>
          </a:p>
          <a:p>
            <a:pPr algn="l">
              <a:lnSpc>
                <a:spcPts val="1811"/>
              </a:lnSpc>
            </a:pPr>
            <a:r>
              <a:rPr lang="en-US" sz="17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| Left − Right | ≤ 5 cm</a:t>
            </a:r>
          </a:p>
          <a:p>
            <a:pPr algn="l">
              <a:lnSpc>
                <a:spcPts val="1811"/>
              </a:lnSpc>
            </a:pPr>
            <a:r>
              <a:rPr lang="en-US" sz="1725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→ execute 180° turnaround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57250" y="2667000"/>
            <a:ext cx="12096750" cy="552450"/>
            <a:chOff x="0" y="0"/>
            <a:chExt cx="16129000" cy="7366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44500" y="171450"/>
              <a:ext cx="15240000" cy="33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NORMAL_SPEED                       130                Cruising PWM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57250" y="3295650"/>
            <a:ext cx="12096750" cy="552450"/>
            <a:chOff x="0" y="0"/>
            <a:chExt cx="16129000" cy="7366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444500" y="171450"/>
              <a:ext cx="15240000" cy="33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TURN_SPEED                         230                Turn PWM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7250" y="3924300"/>
            <a:ext cx="12096750" cy="552450"/>
            <a:chOff x="0" y="0"/>
            <a:chExt cx="16129000" cy="73660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444500" y="171450"/>
              <a:ext cx="15240000" cy="33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UTURN_SPEED                        230                180° turn PWM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" y="4552950"/>
            <a:ext cx="12096750" cy="552450"/>
            <a:chOff x="0" y="0"/>
            <a:chExt cx="16129000" cy="7366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444500" y="171450"/>
              <a:ext cx="15240000" cy="33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OBSTACLE_LIMIT                     30 cm              Obstacle threshold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57250" y="5181600"/>
            <a:ext cx="12096750" cy="552450"/>
            <a:chOff x="0" y="0"/>
            <a:chExt cx="16129000" cy="736600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444500" y="171450"/>
              <a:ext cx="15240000" cy="33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EQUAL_LIMIT                        5 cm               Equal-side tolerance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57250" y="5810250"/>
            <a:ext cx="12096750" cy="552450"/>
            <a:chOff x="0" y="0"/>
            <a:chExt cx="16129000" cy="736600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444500" y="171450"/>
              <a:ext cx="15240000" cy="33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SERVO_CENTER                       90°                Center angle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57250" y="6438900"/>
            <a:ext cx="12096750" cy="552450"/>
            <a:chOff x="0" y="0"/>
            <a:chExt cx="16129000" cy="736600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444500" y="171450"/>
              <a:ext cx="15240000" cy="33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SERVO_LEFT / RIGHT                 150° / 30°         Scan angles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857250" y="7067550"/>
            <a:ext cx="12096750" cy="552450"/>
            <a:chOff x="0" y="0"/>
            <a:chExt cx="16129000" cy="736600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444500" y="171450"/>
              <a:ext cx="15240000" cy="33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TURN_90_TIME                       400 ms             90° duration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57250" y="7696200"/>
            <a:ext cx="12096750" cy="552450"/>
            <a:chOff x="0" y="0"/>
            <a:chExt cx="16129000" cy="736600"/>
          </a:xfrm>
        </p:grpSpPr>
        <p:grpSp>
          <p:nvGrpSpPr>
            <p:cNvPr id="56" name="Group 56"/>
            <p:cNvGrpSpPr/>
            <p:nvPr/>
          </p:nvGrpSpPr>
          <p:grpSpPr>
            <a:xfrm>
              <a:off x="0" y="0"/>
              <a:ext cx="16129000" cy="736600"/>
              <a:chOff x="0" y="0"/>
              <a:chExt cx="16129000" cy="7366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16129000" cy="7366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7366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736600"/>
                    </a:lnTo>
                    <a:lnTo>
                      <a:pt x="0" y="7366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38100"/>
                <a:ext cx="16129000" cy="774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444500" y="171450"/>
              <a:ext cx="15240000" cy="33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TURN_180_TIME                      800 ms             180° duration</a:t>
              </a:r>
            </a:p>
          </p:txBody>
        </p:sp>
      </p:grpSp>
      <p:sp>
        <p:nvSpPr>
          <p:cNvPr id="60" name="AutoShape 60"/>
          <p:cNvSpPr/>
          <p:nvPr/>
        </p:nvSpPr>
        <p:spPr>
          <a:xfrm>
            <a:off x="762000" y="9715500"/>
            <a:ext cx="16764000" cy="0"/>
          </a:xfrm>
          <a:prstGeom prst="line">
            <a:avLst/>
          </a:prstGeom>
          <a:ln w="9525" cap="flat">
            <a:solidFill>
              <a:srgbClr val="CBD8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Box 61"/>
          <p:cNvSpPr txBox="1"/>
          <p:nvPr/>
        </p:nvSpPr>
        <p:spPr>
          <a:xfrm>
            <a:off x="762000" y="9810750"/>
            <a:ext cx="6667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CSE2102  |  Microprocessor and Microcontrollers Lab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6764000" y="9791700"/>
            <a:ext cx="76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124E8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57225"/>
            <a:ext cx="14287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Implementation / Software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1050" y="1323975"/>
            <a:ext cx="12382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FC2DF"/>
                </a:solidFill>
                <a:latin typeface="Source Sans 3"/>
                <a:ea typeface="Source Sans 3"/>
                <a:cs typeface="Source Sans 3"/>
                <a:sym typeface="Source Sans 3"/>
              </a:rPr>
              <a:t>Arduino IDE • Servo library • two-source-file structure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66750" y="2286000"/>
            <a:ext cx="6858000" cy="4953000"/>
            <a:chOff x="0" y="0"/>
            <a:chExt cx="9144000" cy="6604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144000" cy="6604000"/>
            </a:xfrm>
            <a:custGeom>
              <a:avLst/>
              <a:gdLst/>
              <a:ahLst/>
              <a:cxnLst/>
              <a:rect l="l" t="t" r="r" b="b"/>
              <a:pathLst>
                <a:path w="9144000" h="6604000">
                  <a:moveTo>
                    <a:pt x="0" y="0"/>
                  </a:moveTo>
                  <a:lnTo>
                    <a:pt x="9144000" y="0"/>
                  </a:lnTo>
                  <a:lnTo>
                    <a:pt x="9144000" y="6604000"/>
                  </a:lnTo>
                  <a:lnTo>
                    <a:pt x="0" y="6604000"/>
                  </a:lnTo>
                  <a:close/>
                </a:path>
              </a:pathLst>
            </a:custGeom>
            <a:solidFill>
              <a:srgbClr val="102C49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144000" cy="6642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52500" y="2724150"/>
            <a:ext cx="6286500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>
                <a:solidFill>
                  <a:srgbClr val="38BDF8"/>
                </a:solidFill>
                <a:latin typeface="IBM Plex Mono"/>
                <a:ea typeface="IBM Plex Mono"/>
                <a:cs typeface="IBM Plex Mono"/>
                <a:sym typeface="IBM Plex Mono"/>
              </a:rPr>
              <a:t>obstacle_avoiding_robot.ino</a:t>
            </a:r>
          </a:p>
          <a:p>
            <a:pPr algn="l">
              <a:lnSpc>
                <a:spcPts val="4050"/>
              </a:lnSpc>
            </a:pPr>
            <a:r>
              <a:rPr lang="en-US" sz="3000">
                <a:solidFill>
                  <a:srgbClr val="38BDF8"/>
                </a:solidFill>
                <a:latin typeface="IBM Plex Mono"/>
                <a:ea typeface="IBM Plex Mono"/>
                <a:cs typeface="IBM Plex Mono"/>
                <a:sym typeface="IBM Plex Mono"/>
              </a:rPr>
              <a:t>obstacle.cpp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2500" y="5781675"/>
            <a:ext cx="6000750" cy="730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B8CBE0"/>
                </a:solidFill>
                <a:latin typeface="Source Sans 3"/>
                <a:ea typeface="Source Sans 3"/>
                <a:cs typeface="Source Sans 3"/>
                <a:sym typeface="Source Sans 3"/>
              </a:rPr>
              <a:t>Firmware separates sensing, decision-making, and actuation into small testable functions.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82000" y="2400300"/>
            <a:ext cx="4762500" cy="275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950" b="1">
                <a:solidFill>
                  <a:srgbClr val="38BD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 CYCLE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82000" y="3009900"/>
            <a:ext cx="8096250" cy="239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setup()       initialize pins, servo, serial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loop()        main control cycle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getDistance() trigger, time, validate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scanSides()   acquire left / right distances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forward()     apply cruise PWM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stopCar()     zero motor outputs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turnLeft() / turnRight() / turnAround()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9715500"/>
            <a:ext cx="16764000" cy="0"/>
          </a:xfrm>
          <a:prstGeom prst="line">
            <a:avLst/>
          </a:prstGeom>
          <a:ln w="9525" cap="flat">
            <a:solidFill>
              <a:srgbClr val="31506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762000" y="9810750"/>
            <a:ext cx="6667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CSE2102  |  Microprocessor and Microcontrollers Lab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764000" y="9791700"/>
            <a:ext cx="76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38BDF8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57225"/>
            <a:ext cx="14287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 b="1">
                <a:solidFill>
                  <a:srgbClr val="1023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 &amp; Test Cases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1050" y="1323975"/>
            <a:ext cx="123825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 dirty="0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All 10 test cases passed without false observations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68500" y="971550"/>
            <a:ext cx="2286000" cy="587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67"/>
              </a:lnSpc>
            </a:pPr>
            <a:r>
              <a:rPr lang="en-US" sz="4350" b="1" dirty="0">
                <a:solidFill>
                  <a:srgbClr val="1F9D7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 / 10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09625" y="2143125"/>
            <a:ext cx="16668750" cy="619125"/>
            <a:chOff x="0" y="0"/>
            <a:chExt cx="22225000" cy="825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225000" cy="825500"/>
            </a:xfrm>
            <a:custGeom>
              <a:avLst/>
              <a:gdLst/>
              <a:ahLst/>
              <a:cxnLst/>
              <a:rect l="l" t="t" r="r" b="b"/>
              <a:pathLst>
                <a:path w="22225000" h="825500">
                  <a:moveTo>
                    <a:pt x="0" y="0"/>
                  </a:moveTo>
                  <a:lnTo>
                    <a:pt x="22225000" y="0"/>
                  </a:lnTo>
                  <a:lnTo>
                    <a:pt x="22225000" y="825500"/>
                  </a:lnTo>
                  <a:lnTo>
                    <a:pt x="0" y="825500"/>
                  </a:lnTo>
                  <a:close/>
                </a:path>
              </a:pathLst>
            </a:custGeom>
            <a:solidFill>
              <a:srgbClr val="124E8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225000" cy="863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43000" y="2314575"/>
            <a:ext cx="16002000" cy="255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7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TEST CASE             DESCRIPTION                 EXPECTED BEHAVIOR          RESULT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09625" y="2857500"/>
            <a:ext cx="16668750" cy="619125"/>
            <a:chOff x="0" y="0"/>
            <a:chExt cx="22225000" cy="8255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22225000" cy="825500"/>
              <a:chOff x="0" y="0"/>
              <a:chExt cx="22225000" cy="8255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2225000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22225000" h="825500">
                    <a:moveTo>
                      <a:pt x="0" y="0"/>
                    </a:moveTo>
                    <a:lnTo>
                      <a:pt x="22225000" y="0"/>
                    </a:lnTo>
                    <a:lnTo>
                      <a:pt x="22225000" y="825500"/>
                    </a:lnTo>
                    <a:lnTo>
                      <a:pt x="0" y="8255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22225000" cy="863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444500" y="171450"/>
              <a:ext cx="21336000" cy="33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Clear path            No obstacles                Forward motion              PASSED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09625" y="3562350"/>
            <a:ext cx="16668750" cy="619125"/>
            <a:chOff x="0" y="0"/>
            <a:chExt cx="22225000" cy="8255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22225000" cy="825500"/>
              <a:chOff x="0" y="0"/>
              <a:chExt cx="22225000" cy="825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2225000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22225000" h="825500">
                    <a:moveTo>
                      <a:pt x="0" y="0"/>
                    </a:moveTo>
                    <a:lnTo>
                      <a:pt x="22225000" y="0"/>
                    </a:lnTo>
                    <a:lnTo>
                      <a:pt x="22225000" y="825500"/>
                    </a:lnTo>
                    <a:lnTo>
                      <a:pt x="0" y="825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22225000" cy="863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444500" y="171450"/>
              <a:ext cx="21336000" cy="33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Obstacle left         ≤ 30 cm left                Turn right                  PASSED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09625" y="4267200"/>
            <a:ext cx="16668750" cy="619125"/>
            <a:chOff x="0" y="0"/>
            <a:chExt cx="22225000" cy="8255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22225000" cy="825500"/>
              <a:chOff x="0" y="0"/>
              <a:chExt cx="22225000" cy="8255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2225000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22225000" h="825500">
                    <a:moveTo>
                      <a:pt x="0" y="0"/>
                    </a:moveTo>
                    <a:lnTo>
                      <a:pt x="22225000" y="0"/>
                    </a:lnTo>
                    <a:lnTo>
                      <a:pt x="22225000" y="825500"/>
                    </a:lnTo>
                    <a:lnTo>
                      <a:pt x="0" y="8255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22225000" cy="863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444500" y="171450"/>
              <a:ext cx="21336000" cy="33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Obstacle right        ≤ 30 cm right               Turn left                   PASSED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9625" y="4972050"/>
            <a:ext cx="16668750" cy="619125"/>
            <a:chOff x="0" y="0"/>
            <a:chExt cx="22225000" cy="82550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22225000" cy="825500"/>
              <a:chOff x="0" y="0"/>
              <a:chExt cx="22225000" cy="8255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22225000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22225000" h="825500">
                    <a:moveTo>
                      <a:pt x="0" y="0"/>
                    </a:moveTo>
                    <a:lnTo>
                      <a:pt x="22225000" y="0"/>
                    </a:lnTo>
                    <a:lnTo>
                      <a:pt x="22225000" y="825500"/>
                    </a:lnTo>
                    <a:lnTo>
                      <a:pt x="0" y="825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22225000" cy="863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44500" y="171450"/>
              <a:ext cx="21336000" cy="33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Obstacle front        Both sides blocked          180° turnaround             PASSED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09625" y="5676900"/>
            <a:ext cx="16668750" cy="619125"/>
            <a:chOff x="0" y="0"/>
            <a:chExt cx="22225000" cy="825500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22225000" cy="825500"/>
              <a:chOff x="0" y="0"/>
              <a:chExt cx="22225000" cy="8255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22225000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22225000" h="825500">
                    <a:moveTo>
                      <a:pt x="0" y="0"/>
                    </a:moveTo>
                    <a:lnTo>
                      <a:pt x="22225000" y="0"/>
                    </a:lnTo>
                    <a:lnTo>
                      <a:pt x="22225000" y="825500"/>
                    </a:lnTo>
                    <a:lnTo>
                      <a:pt x="0" y="8255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22225000" cy="863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444500" y="171450"/>
              <a:ext cx="21336000" cy="33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Boundary test         Exactly 30 cm               Correct turn                PASSED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09625" y="6381750"/>
            <a:ext cx="16668750" cy="619125"/>
            <a:chOff x="0" y="0"/>
            <a:chExt cx="22225000" cy="825500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22225000" cy="825500"/>
              <a:chOff x="0" y="0"/>
              <a:chExt cx="22225000" cy="8255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22225000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22225000" h="825500">
                    <a:moveTo>
                      <a:pt x="0" y="0"/>
                    </a:moveTo>
                    <a:lnTo>
                      <a:pt x="22225000" y="0"/>
                    </a:lnTo>
                    <a:lnTo>
                      <a:pt x="22225000" y="825500"/>
                    </a:lnTo>
                    <a:lnTo>
                      <a:pt x="0" y="825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22225000" cy="863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444500" y="171450"/>
              <a:ext cx="21336000" cy="33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Invalid &lt; 2 cm        Sensor error                Fail-safe stop              PASSED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09625" y="7086600"/>
            <a:ext cx="16668750" cy="619125"/>
            <a:chOff x="0" y="0"/>
            <a:chExt cx="22225000" cy="825500"/>
          </a:xfrm>
        </p:grpSpPr>
        <p:grpSp>
          <p:nvGrpSpPr>
            <p:cNvPr id="43" name="Group 43"/>
            <p:cNvGrpSpPr/>
            <p:nvPr/>
          </p:nvGrpSpPr>
          <p:grpSpPr>
            <a:xfrm>
              <a:off x="0" y="0"/>
              <a:ext cx="22225000" cy="825500"/>
              <a:chOff x="0" y="0"/>
              <a:chExt cx="22225000" cy="8255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22225000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22225000" h="825500">
                    <a:moveTo>
                      <a:pt x="0" y="0"/>
                    </a:moveTo>
                    <a:lnTo>
                      <a:pt x="22225000" y="0"/>
                    </a:lnTo>
                    <a:lnTo>
                      <a:pt x="22225000" y="825500"/>
                    </a:lnTo>
                    <a:lnTo>
                      <a:pt x="0" y="825500"/>
                    </a:lnTo>
                    <a:close/>
                  </a:path>
                </a:pathLst>
              </a:custGeom>
              <a:solidFill>
                <a:srgbClr val="E7EE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38100"/>
                <a:ext cx="22225000" cy="863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444500" y="171450"/>
              <a:ext cx="21336000" cy="33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Echo timeout          No echo                     Fail-safe stop              PASSED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09625" y="7791450"/>
            <a:ext cx="16668750" cy="619125"/>
            <a:chOff x="0" y="0"/>
            <a:chExt cx="22225000" cy="825500"/>
          </a:xfrm>
        </p:grpSpPr>
        <p:grpSp>
          <p:nvGrpSpPr>
            <p:cNvPr id="48" name="Group 48"/>
            <p:cNvGrpSpPr/>
            <p:nvPr/>
          </p:nvGrpSpPr>
          <p:grpSpPr>
            <a:xfrm>
              <a:off x="0" y="0"/>
              <a:ext cx="22225000" cy="825500"/>
              <a:chOff x="0" y="0"/>
              <a:chExt cx="22225000" cy="8255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22225000" cy="825500"/>
              </a:xfrm>
              <a:custGeom>
                <a:avLst/>
                <a:gdLst/>
                <a:ahLst/>
                <a:cxnLst/>
                <a:rect l="l" t="t" r="r" b="b"/>
                <a:pathLst>
                  <a:path w="22225000" h="825500">
                    <a:moveTo>
                      <a:pt x="0" y="0"/>
                    </a:moveTo>
                    <a:lnTo>
                      <a:pt x="22225000" y="0"/>
                    </a:lnTo>
                    <a:lnTo>
                      <a:pt x="22225000" y="825500"/>
                    </a:lnTo>
                    <a:lnTo>
                      <a:pt x="0" y="825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38100"/>
                <a:ext cx="22225000" cy="863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444500" y="171450"/>
              <a:ext cx="21336000" cy="334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10233D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Invalid side          Servo scan error            Fail-safe action            PASSED</a:t>
              </a:r>
            </a:p>
          </p:txBody>
        </p:sp>
      </p:grpSp>
      <p:sp>
        <p:nvSpPr>
          <p:cNvPr id="52" name="AutoShape 52"/>
          <p:cNvSpPr/>
          <p:nvPr/>
        </p:nvSpPr>
        <p:spPr>
          <a:xfrm>
            <a:off x="762000" y="9715500"/>
            <a:ext cx="16764000" cy="0"/>
          </a:xfrm>
          <a:prstGeom prst="line">
            <a:avLst/>
          </a:prstGeom>
          <a:ln w="9525" cap="flat">
            <a:solidFill>
              <a:srgbClr val="CBD8E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Box 53"/>
          <p:cNvSpPr txBox="1"/>
          <p:nvPr/>
        </p:nvSpPr>
        <p:spPr>
          <a:xfrm>
            <a:off x="762000" y="9810750"/>
            <a:ext cx="6667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60758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CSE2102  |  Microprocessor and Microcontrollers Lab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6764000" y="9791700"/>
            <a:ext cx="76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124E8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57225"/>
            <a:ext cx="14287500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45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Output / Serial Monitor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1050" y="1323975"/>
            <a:ext cx="12382500" cy="299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800">
                <a:solidFill>
                  <a:srgbClr val="9FC2DF"/>
                </a:solidFill>
                <a:latin typeface="Source Sans 3"/>
                <a:ea typeface="Source Sans 3"/>
                <a:cs typeface="Source Sans 3"/>
                <a:sym typeface="Source Sans 3"/>
              </a:rPr>
              <a:t>9600 baud • live evidence for debugging and validation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62000" y="2286000"/>
            <a:ext cx="9334500" cy="5715000"/>
            <a:chOff x="0" y="0"/>
            <a:chExt cx="12446000" cy="762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446000" cy="7620000"/>
            </a:xfrm>
            <a:custGeom>
              <a:avLst/>
              <a:gdLst/>
              <a:ahLst/>
              <a:cxnLst/>
              <a:rect l="l" t="t" r="r" b="b"/>
              <a:pathLst>
                <a:path w="12446000" h="7620000">
                  <a:moveTo>
                    <a:pt x="0" y="0"/>
                  </a:moveTo>
                  <a:lnTo>
                    <a:pt x="12446000" y="0"/>
                  </a:lnTo>
                  <a:lnTo>
                    <a:pt x="12446000" y="7620000"/>
                  </a:lnTo>
                  <a:lnTo>
                    <a:pt x="0" y="7620000"/>
                  </a:lnTo>
                  <a:close/>
                </a:path>
              </a:pathLst>
            </a:custGeom>
            <a:solidFill>
              <a:srgbClr val="020A13"/>
            </a:solidFill>
            <a:ln w="19050" cap="sq">
              <a:solidFill>
                <a:srgbClr val="31506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446000" cy="765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38250" y="2819400"/>
            <a:ext cx="8096250" cy="2412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850">
                <a:solidFill>
                  <a:srgbClr val="9FFFCF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 Front: 25 cm</a:t>
            </a:r>
          </a:p>
          <a:p>
            <a:pPr algn="l">
              <a:lnSpc>
                <a:spcPts val="3847"/>
              </a:lnSpc>
            </a:pPr>
            <a:r>
              <a:rPr lang="en-US" sz="2850">
                <a:solidFill>
                  <a:srgbClr val="9FFFCF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 Front: INVALID</a:t>
            </a:r>
          </a:p>
          <a:p>
            <a:pPr algn="l">
              <a:lnSpc>
                <a:spcPts val="3847"/>
              </a:lnSpc>
            </a:pPr>
            <a:r>
              <a:rPr lang="en-US" sz="2850">
                <a:solidFill>
                  <a:srgbClr val="9FFFCF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 Left: 40 cm</a:t>
            </a:r>
          </a:p>
          <a:p>
            <a:pPr algn="l">
              <a:lnSpc>
                <a:spcPts val="3847"/>
              </a:lnSpc>
            </a:pPr>
            <a:r>
              <a:rPr lang="en-US" sz="2850">
                <a:solidFill>
                  <a:srgbClr val="9FFFCF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 Right: 35 cm</a:t>
            </a:r>
          </a:p>
          <a:p>
            <a:pPr algn="l">
              <a:lnSpc>
                <a:spcPts val="3847"/>
              </a:lnSpc>
            </a:pPr>
            <a:r>
              <a:rPr lang="en-US" sz="2850">
                <a:solidFill>
                  <a:srgbClr val="9FFFCF"/>
                </a:solidFill>
                <a:latin typeface="IBM Plex Mono"/>
                <a:ea typeface="IBM Plex Mono"/>
                <a:cs typeface="IBM Plex Mono"/>
                <a:sym typeface="IBM Plex Mono"/>
              </a:rPr>
              <a:t>&gt; Decision: Turn Left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58500" y="2828925"/>
            <a:ext cx="5715000" cy="2733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VALID DISTANCE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Confirms echo timing and conversion.</a:t>
            </a:r>
          </a:p>
          <a:p>
            <a:pPr algn="l">
              <a:lnSpc>
                <a:spcPts val="2733"/>
              </a:lnSpc>
            </a:pPr>
            <a:endParaRPr lang="en-US" sz="2025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INVALID READING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Triggers the fail-safe path.</a:t>
            </a:r>
          </a:p>
          <a:p>
            <a:pPr algn="l">
              <a:lnSpc>
                <a:spcPts val="2733"/>
              </a:lnSpc>
            </a:pPr>
            <a:endParaRPr lang="en-US" sz="2025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SIDE SCAN + DECISION</a:t>
            </a:r>
          </a:p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Shows the evidence behind each maneuver.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9715500"/>
            <a:ext cx="16764000" cy="0"/>
          </a:xfrm>
          <a:prstGeom prst="line">
            <a:avLst/>
          </a:prstGeom>
          <a:ln w="9525" cap="flat">
            <a:solidFill>
              <a:srgbClr val="31506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762000" y="9810750"/>
            <a:ext cx="6667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CSE2102  |  Microprocessor and Microcontrollers Lab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64000" y="9791700"/>
            <a:ext cx="76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38BDF8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48750" y="3714750"/>
            <a:ext cx="38100" cy="3143250"/>
            <a:chOff x="0" y="0"/>
            <a:chExt cx="50800" cy="4191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800" cy="4191000"/>
            </a:xfrm>
            <a:custGeom>
              <a:avLst/>
              <a:gdLst/>
              <a:ahLst/>
              <a:cxnLst/>
              <a:rect l="l" t="t" r="r" b="b"/>
              <a:pathLst>
                <a:path w="50800" h="4191000">
                  <a:moveTo>
                    <a:pt x="0" y="0"/>
                  </a:moveTo>
                  <a:lnTo>
                    <a:pt x="50800" y="0"/>
                  </a:lnTo>
                  <a:lnTo>
                    <a:pt x="50800" y="4191000"/>
                  </a:lnTo>
                  <a:lnTo>
                    <a:pt x="0" y="4191000"/>
                  </a:lnTo>
                  <a:close/>
                </a:path>
              </a:pathLst>
            </a:custGeom>
            <a:solidFill>
              <a:srgbClr val="38BDF8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800" cy="422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7250" y="1228725"/>
            <a:ext cx="10477500" cy="1527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5"/>
              </a:lnSpc>
            </a:pPr>
            <a:r>
              <a:rPr lang="en-US" sz="57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low-cost robot that can</a:t>
            </a:r>
          </a:p>
          <a:p>
            <a:pPr algn="l">
              <a:lnSpc>
                <a:spcPts val="5985"/>
              </a:lnSpc>
            </a:pPr>
            <a:r>
              <a:rPr lang="en-US" sz="570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sense, decide, and recover.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2500" y="3971925"/>
            <a:ext cx="7239000" cy="1101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C7DBED"/>
                </a:solidFill>
                <a:latin typeface="Source Sans 3"/>
                <a:ea typeface="Source Sans 3"/>
                <a:cs typeface="Source Sans 3"/>
                <a:sym typeface="Source Sans 3"/>
              </a:rPr>
              <a:t>ACHIEVED</a:t>
            </a:r>
          </a:p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C7DBED"/>
                </a:solidFill>
                <a:latin typeface="Source Sans 3"/>
                <a:ea typeface="Source Sans 3"/>
                <a:cs typeface="Source Sans 3"/>
                <a:sym typeface="Source Sans 3"/>
              </a:rPr>
              <a:t>Validated 2WD autonomy with ultrasonic sensing, servo scanning, PWM motor control, and fail-safe behavior.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25000" y="3971925"/>
            <a:ext cx="7048500" cy="1101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C7DBED"/>
                </a:solidFill>
                <a:latin typeface="Source Sans 3"/>
                <a:ea typeface="Source Sans 3"/>
                <a:cs typeface="Source Sans 3"/>
                <a:sym typeface="Source Sans 3"/>
              </a:rPr>
              <a:t>NEXT</a:t>
            </a:r>
          </a:p>
          <a:p>
            <a:pPr algn="l">
              <a:lnSpc>
                <a:spcPts val="2936"/>
              </a:lnSpc>
            </a:pPr>
            <a:r>
              <a:rPr lang="en-US" sz="2175">
                <a:solidFill>
                  <a:srgbClr val="C7DBED"/>
                </a:solidFill>
                <a:latin typeface="Source Sans 3"/>
                <a:ea typeface="Source Sans 3"/>
                <a:cs typeface="Source Sans 3"/>
                <a:sym typeface="Source Sans 3"/>
              </a:rPr>
              <a:t>Multi-sensor array • encoders / IMU • PID speed control • wireless monitoring • grid-based planning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2500" y="8010525"/>
            <a:ext cx="11430000" cy="531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900" b="1">
                <a:solidFill>
                  <a:srgbClr val="38BDF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you.  Questions?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9715500"/>
            <a:ext cx="16764000" cy="0"/>
          </a:xfrm>
          <a:prstGeom prst="line">
            <a:avLst/>
          </a:prstGeom>
          <a:ln w="9525" cap="flat">
            <a:solidFill>
              <a:srgbClr val="31506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762000" y="9810750"/>
            <a:ext cx="6667500" cy="231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35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CSE2102  |  Microprocessor and Microcontrollers Lab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64000" y="9791700"/>
            <a:ext cx="762000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500">
                <a:solidFill>
                  <a:srgbClr val="38BDF8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1118</Words>
  <Application>Microsoft Office PowerPoint</Application>
  <PresentationFormat>Custom</PresentationFormat>
  <Paragraphs>228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IBM Plex Mono</vt:lpstr>
      <vt:lpstr>Source Sans 3 Bold</vt:lpstr>
      <vt:lpstr>Source Sans 3</vt:lpstr>
      <vt:lpstr>Montserrat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Obstacle-Avoiding Robot</dc:title>
  <cp:lastModifiedBy>MD. ABDULLAH-AL-KHALID ALIF</cp:lastModifiedBy>
  <cp:revision>4</cp:revision>
  <dcterms:created xsi:type="dcterms:W3CDTF">2006-08-16T00:00:00Z</dcterms:created>
  <dcterms:modified xsi:type="dcterms:W3CDTF">2026-10-12T17:10:37Z</dcterms:modified>
  <dc:identifier>DAHX0FEnU5g</dc:identifier>
</cp:coreProperties>
</file>